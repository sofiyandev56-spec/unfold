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14a275a-6176-b185-3047-18c8f24bc61e}">
          <p14:sldIdLst>
            <p14:sldId id="256"/>
          </p14:sldIdLst>
        </p14:section>
        <p14:section name="The idea" id="{b6bc6a08-fa48-dc2d-2a53-588abd85956c}">
          <p14:sldIdLst>
            <p14:sldId id="257"/>
          </p14:sldIdLst>
        </p14:section>
        <p14:section name="Built for the fold" id="{d0406166-cf10-fe8b-2627-768a7c498f27}">
          <p14:sldIdLst>
            <p14:sldId id="258"/>
          </p14:sldIdLst>
        </p14:section>
        <p14:section name="The games" id="{adc89c8c-7ce8-739d-ce6d-97b91849d596}">
          <p14:sldIdLst>
            <p14:sldId id="259"/>
            <p14:sldId id="260"/>
            <p14:sldId id="261"/>
            <p14:sldId id="262"/>
          </p14:sldIdLst>
        </p14:section>
        <p14:section name="Intelligence" id="{5fcfe0b1-49f9-491d-efda-e98b705d49e9}">
          <p14:sldIdLst>
            <p14:sldId id="263"/>
          </p14:sldIdLst>
        </p14:section>
        <p14:section name="Design" id="{2b54b2ea-0fb1-8d27-a473-ecbd30a5f6e5}">
          <p14:sldIdLst>
            <p14:sldId id="264"/>
            <p14:sldId id="265"/>
            <p14:sldId id="266"/>
          </p14:sldIdLst>
        </p14:section>
        <p14:section name="Engineering" id="{818f80d0-f229-8fda-a511-df9540cd80f9}">
          <p14:sldIdLst>
            <p14:sldId id="267"/>
          </p14:sldIdLst>
        </p14:section>
        <p14:section name="Demo" id="{d985979c-b338-3735-e88d-9b01692902a2}">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Unfold is a learning arcade for Swift, Apple frameworks and the Apple ecosystem. It's built for Apple's new foldable, iPhone Duo, and it adapts to iPhone 18 Pro Max. The name is the idea: you unfold the phone, and knowledge unfolds with it. In the next few minutes: four games that use the hinge as a controller, a private on-device AI coach, and the design research behind every pixel.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Apple Arcade, with a curriculum inside. Three pillars. One: play to learn, with four short games and instant explanations. Two: on iPhone Duo the fold itself is the controller, so the hardware teaches. Three: a private AI coach built on Apple Intelligence that runs entirely on the phone. All of it in SwiftUI with zero third-party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technical point. Unfold doesn't simulate a foldable; it uses the iOS 27.1 SDK. onHingeChange gives the real angle and status, and on the right you can see the iPhone Duo Simulator reporting it live. The crease comes from reservedRegions, so content is moved off the fold, which is the HIG's displacement principle. When the phone is closed, games switch to touch on the cover display. And a presenter hinge drives the same state from a slider, which is how I'll demo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 and Flip teaches which Apple framework does what. The flip is driven by the hinge angle. In laptop pose the card tilts back around a horizontal axis, exactly like the hinge; in book pose it turns like a page. Fold past 90 degrees and the answer appears; rate yourself, unfold flat, and the next card is dealt. Behind it is spaced repetition with Leitner boxes, so the cards you miss come back first. Without a hinge you tap or drag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Hinge turns the hinge into a time machine. The usable hinge range maps onto fifty years, so folding the phone sweeps a protractor across Apple history. Hold still and it locks your guess; the green needle shows the real year and a short story. On the inner display the story sits on the left page and the dial on the right, split exactly at the 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Race is Swift 6 concurrency made physical. The two halves of the screen are two isolation domains, the main actor and a Store actor, and the crease is the boundary between them. Drag Sendable values across; keep the rest home. Send a mutable class and you get the actual Swift 6 diagnostic and a plain-English fix. It includes the subtle cases an Apple engineer would ask about: main-actor classes are Sendable, but final immutable classes still need an explicit conformance.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Swift Sprint is sixty seconds of 'what prints?' and 'will it compile?'. It shows the layout principle behind every screen. Apple's guidance is displacement: move elements, don't redesign them. Flat, code and answers sit side by side. In book pose they split across the vertical crease. Rotate to laptop pose and the code rises to the raised half while the answers drop to the half resting on the table, like a keyboard. Same views, same state, just moved. A round carries on as you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 uses Apple's FoundationModels framework, so the language model runs on the phone and questions never leave it. On its own, the model didn't know the brand-new hinge API; it was trained before iOS 27.1. So before every question Coach retrieves the most relevant notes from Unfold's eighty-concept curriculum and grounds the prompt. Now it answers with the real onHingeChange code, as you can see. After every round it writes a short debrief from your actual mistakes. And on devices without Apple Intelligence, it falls back to answering from the same curriculum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Apple's Liquid Glass guidance before writing code. Apple says glass is a functional layer for controls and navigation, and warns against overusing it. So in Unfold glass appears only on that layer: the system tab bar, which iOS automatically moves to the right edge of the Duo's cover display; the game HUD, inside a GlassEffectContainer; the Coach composer; and the presenter hinge. Content cards stay solid, and there's never glass on glass. On the right is iPhone 18 Pro Max, with the composer and tab bar floating over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Apple's colour guidance is to use colour sparingly and give each colour one meaning. So Unfold has a semantic palette: blue only for things you can tap; one colour per world; green for correct; and the Apple Intelligence gradient only when the model is speaking. The research shaped the details. Mehta and Zhu showed red primes avoidance and blue primes approach. Elliot's team showed even brief red before a test lowers scores. So red only flashes for a moment, then the explanation takes over. Every colour also has a symbol, so colour is never the only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games are fun, but the structure comes from learning science. Retrieval practice: every game asks before it tells. Immediate feedback: every mistake explains itself. Spaced repetition: the flashcards use Leitner boxes. And mastery you can see: three rings, one per world, modelled on Activity rings, plus streaks and personal bests.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SwiftUI codebase runs on all three screens. On the Duo's cover display iOS moves the tab bar and back button to the right edge for us, because we used standard components. The inner display gets wider grids and fold-aware splits. iPhone 18 Pro Max gets the bottom tab bar and touch controls. Under the hood: Observation, Swift's default main-actor isolation, FoundationModels, the new hinge and reserved-region APIs, and no third-party code. It builds with zero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One: Fold and Flip, bending the hinge to turn a card. Two: Data Race, deliberately sending a mutable class across the boundary to trigger a data race. Three: asking Coach how to read the hinge, with Apple Intelligence on device. Four: the Journey screen, where the mastery rings fill.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E-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5669280" cy="1097280"/>
          </a:xfrm>
          <a:prstGeom prst="rect">
            <a:avLst/>
          </a:prstGeom>
          <a:noFill/>
          <a:ln/>
        </p:spPr>
        <p:txBody>
          <a:bodyPr wrap="square" rtlCol="0"/>
          <a:lstStyle>
            <a:lvl1pPr algn="l" indent="0" marL="0">
              <a:buNone/>
              <a:defRPr lang="en-US" sz="7200" b="1" dirty="0">
                <a:solidFill>
                  <a:schemeClr val="tx1"/>
                </a:solidFill>
              </a:defRPr>
            </a:lvl1pPr>
          </a:lstStyle>
          <a:p>
            <a:pPr algn="l" indent="0" marL="0">
              <a:buNone/>
            </a:pPr>
            <a:endParaRPr lang="en-US" sz="7200" dirty="0"/>
          </a:p>
        </p:txBody>
      </p:sp>
      <p:sp>
        <p:nvSpPr>
          <p:cNvPr id="3" name="Text 0"/>
          <p:cNvSpPr/>
          <p:nvPr>
            <p:ph idx="101" type="body" hasCustomPrompt="1"/>
          </p:nvPr>
        </p:nvSpPr>
        <p:spPr>
          <a:xfrm>
            <a:off x="731520" y="3474720"/>
            <a:ext cx="5669280" cy="54864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Unfold · Learn Apple, one fold at a time</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725912" cy="914400"/>
          </a:xfrm>
          <a:prstGeom prst="rect">
            <a:avLst/>
          </a:prstGeom>
          <a:noFill/>
          <a:ln/>
        </p:spPr>
        <p:txBody>
          <a:bodyPr wrap="square" rtlCol="0"/>
          <a:lstStyle>
            <a:lvl1pPr algn="ctr" indent="0" marL="0">
              <a:buNone/>
              <a:defRPr lang="en-US" sz="6000" b="1" dirty="0">
                <a:solidFill>
                  <a:schemeClr val="tx1"/>
                </a:solidFill>
              </a:defRPr>
            </a:lvl1pPr>
          </a:lstStyle>
          <a:p>
            <a:pPr algn="ctr" indent="0" marL="0">
              <a:buNone/>
            </a:pPr>
            <a:endParaRPr lang="en-US" sz="6000" dirty="0"/>
          </a:p>
        </p:txBody>
      </p:sp>
      <p:sp>
        <p:nvSpPr>
          <p:cNvPr id="3" name="Text 0"/>
          <p:cNvSpPr/>
          <p:nvPr>
            <p:ph idx="101" type="body" hasCustomPrompt="1"/>
          </p:nvPr>
        </p:nvSpPr>
        <p:spPr>
          <a:xfrm>
            <a:off x="731520" y="2788920"/>
            <a:ext cx="10725912" cy="502920"/>
          </a:xfrm>
          <a:prstGeom prst="rect">
            <a:avLst/>
          </a:prstGeom>
          <a:noFill/>
          <a:ln/>
        </p:spPr>
        <p:txBody>
          <a:bodyPr wrap="square" rtlCol="0"/>
          <a:lstStyle>
            <a:lvl1pPr algn="ctr" indent="0" marL="0">
              <a:buNone/>
              <a:defRPr lang="en-US" sz="2400" dirty="0">
                <a:solidFill>
                  <a:schemeClr val="tx1"/>
                </a:solidFill>
              </a:defRPr>
            </a:lvl1pPr>
          </a:lstStyle>
          <a:p>
            <a:pPr algn="ctr"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nfold app icon: two halves opening like a book with light at the crease">    </p:cNvPr>
          <p:cNvPicPr>
            <a:picLocks noChangeAspect="1"/>
          </p:cNvPicPr>
          <p:nvPr/>
        </p:nvPicPr>
        <p:blipFill>
          <a:blip r:embed="rId1"/>
          <a:stretch>
            <a:fillRect/>
          </a:stretch>
        </p:blipFill>
        <p:spPr>
          <a:xfrm>
            <a:off x="731520" y="914400"/>
            <a:ext cx="1234440" cy="1234440"/>
          </a:xfrm>
          <a:prstGeom prst="rect">
            <a:avLst/>
          </a:prstGeom>
        </p:spPr>
      </p:pic>
      <p:sp>
        <p:nvSpPr>
          <p:cNvPr id="3" name="Text 0"/>
          <p:cNvSpPr/>
          <p:nvPr>
            <p:ph idx="100" type="title" hasCustomPrompt="1"/>
          </p:nvPr>
        </p:nvSpPr>
        <p:spPr>
          <a:xfrm>
            <a:off x="731520" y="2331720"/>
            <a:ext cx="5669280" cy="1097280"/>
          </a:xfrm>
          <a:prstGeom prst="rect">
            <a:avLst/>
          </a:prstGeom>
          <a:noFill/>
          <a:ln/>
        </p:spPr>
        <p:txBody>
          <a:bodyPr wrap="square" lIns="0" tIns="0" rIns="0" bIns="0" rtlCol="0" anchor="ctr"/>
          <a:lstStyle/>
          <a:p>
            <a:pPr algn="l" indent="0" marL="0">
              <a:buNone/>
            </a:pPr>
            <a:r>
              <a:rPr lang="en-US" sz="7200" b="1" dirty="0">
                <a:solidFill>
                  <a:schemeClr val="tx1"/>
                </a:solidFill>
              </a:rPr>
              <a:t>Unfold</a:t>
            </a:r>
            <a:endParaRPr lang="en-US" sz="7200" dirty="0"/>
          </a:p>
        </p:txBody>
      </p:sp>
      <p:sp>
        <p:nvSpPr>
          <p:cNvPr id="4" name="Text 0"/>
          <p:cNvSpPr/>
          <p:nvPr>
            <p:ph idx="101" type="body" hasCustomPrompt="1"/>
          </p:nvPr>
        </p:nvSpPr>
        <p:spPr>
          <a:xfrm>
            <a:off x="731520" y="3474720"/>
            <a:ext cx="5669280" cy="548640"/>
          </a:xfrm>
          <a:prstGeom prst="rect">
            <a:avLst/>
          </a:prstGeom>
          <a:noFill/>
          <a:ln/>
        </p:spPr>
        <p:txBody>
          <a:bodyPr wrap="square" lIns="0" tIns="0" rIns="0" bIns="0" rtlCol="0" anchor="t"/>
          <a:lstStyle/>
          <a:p>
            <a:pPr algn="l" indent="0" marL="0">
              <a:buNone/>
            </a:pPr>
            <a:r>
              <a:rPr lang="en-US" sz="2600" dirty="0">
                <a:solidFill>
                  <a:schemeClr val="tx1"/>
                </a:solidFill>
              </a:rPr>
              <a:t>Learn Apple, one fold at a time.</a:t>
            </a:r>
            <a:endParaRPr lang="en-US" sz="2600" dirty="0"/>
          </a:p>
        </p:txBody>
      </p:sp>
      <p:sp>
        <p:nvSpPr>
          <p:cNvPr id="5" name="Text 2"/>
          <p:cNvSpPr txBox="1"/>
          <p:nvPr/>
        </p:nvSpPr>
        <p:spPr>
          <a:xfrm>
            <a:off x="731520" y="4114800"/>
            <a:ext cx="5394960" cy="685800"/>
          </a:xfrm>
          <a:prstGeom prst="rect">
            <a:avLst/>
          </a:prstGeom>
          <a:noFill/>
          <a:ln/>
        </p:spPr>
        <p:txBody>
          <a:bodyPr wrap="square" lIns="0" tIns="0" rIns="0" bIns="0" rtlCol="0" anchor="t"/>
          <a:lstStyle/>
          <a:p>
            <a:pPr indent="0" marL="0">
              <a:buNone/>
            </a:pPr>
            <a:r>
              <a:rPr lang="en-US" sz="1600" dirty="0">
                <a:solidFill>
                  <a:schemeClr val="tx2"/>
                </a:solidFill>
              </a:rPr>
              <a:t>An AI-powered learning arcade built for iPhone Duo and iPhone 18 Pro Max.</a:t>
            </a:r>
            <a:endParaRPr lang="en-US" sz="1600" dirty="0"/>
          </a:p>
        </p:txBody>
      </p:sp>
      <p:sp>
        <p:nvSpPr>
          <p:cNvPr id="6" name="chip-0"/>
          <p:cNvSpPr/>
          <p:nvPr/>
        </p:nvSpPr>
        <p:spPr>
          <a:xfrm>
            <a:off x="731520" y="4983480"/>
            <a:ext cx="1874520" cy="365760"/>
          </a:xfrm>
          <a:prstGeom prst="roundRect">
            <a:avLst>
              <a:gd name="adj" fmla="val 50000"/>
            </a:avLst>
          </a:prstGeom>
          <a:solidFill>
            <a:schemeClr val="bg2"/>
          </a:solidFill>
          <a:ln w="9525">
            <a:solidFill>
              <a:srgbClr val="2A2A35"/>
            </a:solidFill>
          </a:ln>
        </p:spPr>
        <p:txBody>
          <a:bodyPr wrap="square" lIns="0" tIns="0" rIns="0" bIns="0" rtlCol="0" anchor="ctr"/>
          <a:lstStyle/>
          <a:p>
            <a:pPr algn="ctr" indent="0" marL="0">
              <a:buNone/>
            </a:pPr>
            <a:r>
              <a:rPr lang="en-US" sz="1200" b="1" dirty="0">
                <a:solidFill>
                  <a:schemeClr val="accent2"/>
                </a:solidFill>
              </a:rPr>
              <a:t>4 fold-native games</a:t>
            </a:r>
            <a:endParaRPr lang="en-US" sz="1200" dirty="0"/>
          </a:p>
        </p:txBody>
      </p:sp>
      <p:sp>
        <p:nvSpPr>
          <p:cNvPr id="7" name="chip-1"/>
          <p:cNvSpPr/>
          <p:nvPr/>
        </p:nvSpPr>
        <p:spPr>
          <a:xfrm>
            <a:off x="2743200" y="4983480"/>
            <a:ext cx="2697480" cy="365760"/>
          </a:xfrm>
          <a:prstGeom prst="roundRect">
            <a:avLst>
              <a:gd name="adj" fmla="val 50000"/>
            </a:avLst>
          </a:prstGeom>
          <a:solidFill>
            <a:schemeClr val="bg2"/>
          </a:solidFill>
          <a:ln w="9525">
            <a:solidFill>
              <a:srgbClr val="2A2A35"/>
            </a:solidFill>
          </a:ln>
        </p:spPr>
        <p:txBody>
          <a:bodyPr wrap="square" lIns="0" tIns="0" rIns="0" bIns="0" rtlCol="0" anchor="ctr"/>
          <a:lstStyle/>
          <a:p>
            <a:pPr algn="ctr" indent="0" marL="0">
              <a:buNone/>
            </a:pPr>
            <a:r>
              <a:rPr lang="en-US" sz="1200" b="1" dirty="0">
                <a:solidFill>
                  <a:schemeClr val="accent4"/>
                </a:solidFill>
              </a:rPr>
              <a:t>On-device Apple Intelligence</a:t>
            </a:r>
            <a:endParaRPr lang="en-US" sz="1200" dirty="0"/>
          </a:p>
        </p:txBody>
      </p:sp>
      <p:sp>
        <p:nvSpPr>
          <p:cNvPr id="8" name="chip-2"/>
          <p:cNvSpPr/>
          <p:nvPr/>
        </p:nvSpPr>
        <p:spPr>
          <a:xfrm>
            <a:off x="731520" y="5458968"/>
            <a:ext cx="1417320" cy="365760"/>
          </a:xfrm>
          <a:prstGeom prst="roundRect">
            <a:avLst>
              <a:gd name="adj" fmla="val 50000"/>
            </a:avLst>
          </a:prstGeom>
          <a:solidFill>
            <a:schemeClr val="bg2"/>
          </a:solidFill>
          <a:ln w="9525">
            <a:solidFill>
              <a:srgbClr val="2A2A35"/>
            </a:solidFill>
          </a:ln>
        </p:spPr>
        <p:txBody>
          <a:bodyPr wrap="square" lIns="0" tIns="0" rIns="0" bIns="0" rtlCol="0" anchor="ctr"/>
          <a:lstStyle/>
          <a:p>
            <a:pPr algn="ctr" indent="0" marL="0">
              <a:buNone/>
            </a:pPr>
            <a:r>
              <a:rPr lang="en-US" sz="1200" b="1" dirty="0">
                <a:solidFill>
                  <a:schemeClr val="accent1"/>
                </a:solidFill>
              </a:rPr>
              <a:t>Liquid Glass</a:t>
            </a:r>
            <a:endParaRPr lang="en-US" sz="1200" dirty="0"/>
          </a:p>
        </p:txBody>
      </p:sp>
      <p:sp>
        <p:nvSpPr>
          <p:cNvPr id="9" name="chip-3"/>
          <p:cNvSpPr/>
          <p:nvPr/>
        </p:nvSpPr>
        <p:spPr>
          <a:xfrm>
            <a:off x="2286000" y="5458968"/>
            <a:ext cx="1920240" cy="365760"/>
          </a:xfrm>
          <a:prstGeom prst="roundRect">
            <a:avLst>
              <a:gd name="adj" fmla="val 50000"/>
            </a:avLst>
          </a:prstGeom>
          <a:solidFill>
            <a:schemeClr val="bg2"/>
          </a:solidFill>
          <a:ln w="9525">
            <a:solidFill>
              <a:srgbClr val="2A2A35"/>
            </a:solidFill>
          </a:ln>
        </p:spPr>
        <p:txBody>
          <a:bodyPr wrap="square" lIns="0" tIns="0" rIns="0" bIns="0" rtlCol="0" anchor="ctr"/>
          <a:lstStyle/>
          <a:p>
            <a:pPr algn="ctr" indent="0" marL="0">
              <a:buNone/>
            </a:pPr>
            <a:r>
              <a:rPr lang="en-US" sz="1200" b="1" dirty="0">
                <a:solidFill>
                  <a:schemeClr val="accent3"/>
                </a:solidFill>
              </a:rPr>
              <a:t>iOS 27.1 hinge APIs</a:t>
            </a:r>
            <a:endParaRPr lang="en-US" sz="1200" dirty="0"/>
          </a:p>
        </p:txBody>
      </p:sp>
      <p:pic>
        <p:nvPicPr>
          <p:cNvPr id="10" name="Image 1" descr="Unfold's Arcade running on iPhone Duo's inner display">    </p:cNvPr>
          <p:cNvPicPr>
            <a:picLocks noChangeAspect="1"/>
          </p:cNvPicPr>
          <p:nvPr/>
        </p:nvPicPr>
        <p:blipFill>
          <a:blip r:embed="rId2"/>
          <a:stretch>
            <a:fillRect/>
          </a:stretch>
        </p:blipFill>
        <p:spPr>
          <a:xfrm>
            <a:off x="6537960" y="1417320"/>
            <a:ext cx="5120640" cy="3602736"/>
          </a:xfrm>
          <a:prstGeom prst="rect">
            <a:avLst/>
          </a:prstGeom>
          <a:effectLst>
            <a:outerShdw sx="100000" sy="100000" kx="0" ky="0" algn="bl" rotWithShape="0" blurRad="228600" dist="76200" dir="5400000">
              <a:srgbClr val="000000">
                <a:alpha val="55000"/>
              </a:srgbClr>
            </a:outerShdw>
          </a:effectLst>
        </p:spPr>
      </p:pic>
      <p:sp>
        <p:nvSpPr>
          <p:cNvPr id="11" name="Text 7"/>
          <p:cNvSpPr txBox="1"/>
          <p:nvPr/>
        </p:nvSpPr>
        <p:spPr>
          <a:xfrm>
            <a:off x="6537960" y="5120640"/>
            <a:ext cx="5120640" cy="365760"/>
          </a:xfrm>
          <a:prstGeom prst="rect">
            <a:avLst/>
          </a:prstGeom>
          <a:noFill/>
          <a:ln/>
        </p:spPr>
        <p:txBody>
          <a:bodyPr wrap="square" lIns="0" tIns="0" rIns="0" bIns="0" rtlCol="0" anchor="t"/>
          <a:lstStyle/>
          <a:p>
            <a:pPr algn="l" indent="0" marL="0">
              <a:buNone/>
            </a:pPr>
            <a:r>
              <a:rPr lang="en-US" sz="1100" dirty="0">
                <a:solidFill>
                  <a:schemeClr val="tx2"/>
                </a:solidFill>
              </a:rPr>
              <a:t>Running on iPhone Duo's 7.6-inch inner display</a:t>
            </a:r>
            <a:endParaRPr lang="en-US" sz="1100" dirty="0"/>
          </a:p>
        </p:txBody>
      </p:sp>
      <p:sp>
        <p:nvSpPr>
          <p:cNvPr id="12" name="Text 8"/>
          <p:cNvSpPr txBox="1"/>
          <p:nvPr/>
        </p:nvSpPr>
        <p:spPr>
          <a:xfrm>
            <a:off x="731520" y="6172200"/>
            <a:ext cx="4572000" cy="274320"/>
          </a:xfrm>
          <a:prstGeom prst="rect">
            <a:avLst/>
          </a:prstGeom>
          <a:noFill/>
          <a:ln/>
        </p:spPr>
        <p:txBody>
          <a:bodyPr wrap="square" lIns="0" tIns="0" rIns="0" bIns="0" rtlCol="0" anchor="ctr"/>
          <a:lstStyle/>
          <a:p>
            <a:pPr indent="0" marL="0">
              <a:buNone/>
            </a:pPr>
            <a:r>
              <a:rPr lang="en-US" sz="1200" dirty="0">
                <a:solidFill>
                  <a:schemeClr val="tx2"/>
                </a:solidFill>
              </a:rPr>
              <a:t>Sofiyan Shaikh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THE IDEA</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Apple Arcade polish, with a curriculum inside</a:t>
            </a:r>
            <a:endParaRPr lang="en-US" sz="3200" dirty="0"/>
          </a:p>
        </p:txBody>
      </p:sp>
      <p:sp>
        <p:nvSpPr>
          <p:cNvPr id="4" name="pillar-0"/>
          <p:cNvSpPr/>
          <p:nvPr/>
        </p:nvSpPr>
        <p:spPr>
          <a:xfrm>
            <a:off x="548640" y="1645920"/>
            <a:ext cx="3520440" cy="2971800"/>
          </a:xfrm>
          <a:prstGeom prst="roundRect">
            <a:avLst>
              <a:gd name="adj" fmla="val 5538"/>
            </a:avLst>
          </a:prstGeom>
          <a:solidFill>
            <a:schemeClr val="bg2"/>
          </a:solidFill>
          <a:ln w="9525">
            <a:solidFill>
              <a:srgbClr val="2A2A35"/>
            </a:solidFill>
            <a:prstDash val="solid"/>
          </a:ln>
        </p:spPr>
      </p:sp>
      <p:sp>
        <p:nvSpPr>
          <p:cNvPr id="5" name="badge-IoGameController"/>
          <p:cNvSpPr/>
          <p:nvPr/>
        </p:nvSpPr>
        <p:spPr>
          <a:xfrm>
            <a:off x="868680" y="1965960"/>
            <a:ext cx="640080" cy="640080"/>
          </a:xfrm>
          <a:prstGeom prst="ellipse">
            <a:avLst/>
          </a:prstGeom>
          <a:solidFill>
            <a:schemeClr val="accent2">
              <a:alpha val="22000"/>
            </a:schemeClr>
          </a:solidFill>
          <a:ln/>
        </p:spPr>
      </p:sp>
      <p:pic>
        <p:nvPicPr>
          <p:cNvPr id="6" name="Image 0" descr="GameController icon">    </p:cNvPr>
          <p:cNvPicPr>
            <a:picLocks noChangeAspect="1"/>
          </p:cNvPicPr>
          <p:nvPr/>
        </p:nvPicPr>
        <p:blipFill>
          <a:blip r:embed="rId1"/>
          <a:stretch>
            <a:fillRect/>
          </a:stretch>
        </p:blipFill>
        <p:spPr>
          <a:xfrm>
            <a:off x="1009498" y="2106778"/>
            <a:ext cx="358445" cy="358445"/>
          </a:xfrm>
          <a:prstGeom prst="rect">
            <a:avLst/>
          </a:prstGeom>
        </p:spPr>
      </p:pic>
      <p:sp>
        <p:nvSpPr>
          <p:cNvPr id="7" name="Text 4"/>
          <p:cNvSpPr txBox="1"/>
          <p:nvPr/>
        </p:nvSpPr>
        <p:spPr>
          <a:xfrm>
            <a:off x="868680" y="2743200"/>
            <a:ext cx="2926080" cy="731520"/>
          </a:xfrm>
          <a:prstGeom prst="rect">
            <a:avLst/>
          </a:prstGeom>
          <a:noFill/>
          <a:ln/>
        </p:spPr>
        <p:txBody>
          <a:bodyPr wrap="square" lIns="0" tIns="0" rIns="0" bIns="0" rtlCol="0" anchor="t"/>
          <a:lstStyle/>
          <a:p>
            <a:pPr indent="0" marL="0">
              <a:buNone/>
            </a:pPr>
            <a:r>
              <a:rPr lang="en-US" sz="2000" b="1" dirty="0">
                <a:solidFill>
                  <a:schemeClr val="tx1"/>
                </a:solidFill>
              </a:rPr>
              <a:t>Play to learn</a:t>
            </a:r>
            <a:endParaRPr lang="en-US" sz="2000" dirty="0"/>
          </a:p>
        </p:txBody>
      </p:sp>
      <p:sp>
        <p:nvSpPr>
          <p:cNvPr id="8" name="Text 5"/>
          <p:cNvSpPr txBox="1"/>
          <p:nvPr/>
        </p:nvSpPr>
        <p:spPr>
          <a:xfrm>
            <a:off x="868680" y="3520440"/>
            <a:ext cx="2926080" cy="1005840"/>
          </a:xfrm>
          <a:prstGeom prst="rect">
            <a:avLst/>
          </a:prstGeom>
          <a:noFill/>
          <a:ln/>
        </p:spPr>
        <p:txBody>
          <a:bodyPr wrap="square" lIns="0" tIns="0" rIns="0" bIns="0" rtlCol="0" anchor="t"/>
          <a:lstStyle/>
          <a:p>
            <a:pPr indent="0" marL="0">
              <a:buNone/>
            </a:pPr>
            <a:r>
              <a:rPr lang="en-US" sz="1400" dirty="0">
                <a:solidFill>
                  <a:schemeClr val="tx2"/>
                </a:solidFill>
              </a:rPr>
              <a:t>Four mini-games teach Swift, Apple frameworks, concurrency and 50 years of Apple history. Every mistake explains itself.</a:t>
            </a:r>
            <a:endParaRPr lang="en-US" sz="1400" dirty="0"/>
          </a:p>
        </p:txBody>
      </p:sp>
      <p:sp>
        <p:nvSpPr>
          <p:cNvPr id="9" name="pillar-1"/>
          <p:cNvSpPr/>
          <p:nvPr/>
        </p:nvSpPr>
        <p:spPr>
          <a:xfrm>
            <a:off x="4343400" y="1645920"/>
            <a:ext cx="3520440" cy="2971800"/>
          </a:xfrm>
          <a:prstGeom prst="roundRect">
            <a:avLst>
              <a:gd name="adj" fmla="val 5538"/>
            </a:avLst>
          </a:prstGeom>
          <a:solidFill>
            <a:schemeClr val="bg2"/>
          </a:solidFill>
          <a:ln w="9525">
            <a:solidFill>
              <a:srgbClr val="2A2A35"/>
            </a:solidFill>
            <a:prstDash val="solid"/>
          </a:ln>
        </p:spPr>
      </p:sp>
      <p:sp>
        <p:nvSpPr>
          <p:cNvPr id="10" name="badge-IoBookOutline"/>
          <p:cNvSpPr/>
          <p:nvPr/>
        </p:nvSpPr>
        <p:spPr>
          <a:xfrm>
            <a:off x="4663440" y="1965960"/>
            <a:ext cx="640080" cy="640080"/>
          </a:xfrm>
          <a:prstGeom prst="ellipse">
            <a:avLst/>
          </a:prstGeom>
          <a:solidFill>
            <a:schemeClr val="accent3">
              <a:alpha val="22000"/>
            </a:schemeClr>
          </a:solidFill>
          <a:ln/>
        </p:spPr>
      </p:sp>
      <p:pic>
        <p:nvPicPr>
          <p:cNvPr id="11" name="Image 1" descr="BookOutline icon">    </p:cNvPr>
          <p:cNvPicPr>
            <a:picLocks noChangeAspect="1"/>
          </p:cNvPicPr>
          <p:nvPr/>
        </p:nvPicPr>
        <p:blipFill>
          <a:blip r:embed="rId2"/>
          <a:stretch>
            <a:fillRect/>
          </a:stretch>
        </p:blipFill>
        <p:spPr>
          <a:xfrm>
            <a:off x="4804258" y="2106778"/>
            <a:ext cx="358445" cy="358445"/>
          </a:xfrm>
          <a:prstGeom prst="rect">
            <a:avLst/>
          </a:prstGeom>
        </p:spPr>
      </p:pic>
      <p:sp>
        <p:nvSpPr>
          <p:cNvPr id="12" name="Text 8"/>
          <p:cNvSpPr txBox="1"/>
          <p:nvPr/>
        </p:nvSpPr>
        <p:spPr>
          <a:xfrm>
            <a:off x="4663440" y="2743200"/>
            <a:ext cx="2926080" cy="731520"/>
          </a:xfrm>
          <a:prstGeom prst="rect">
            <a:avLst/>
          </a:prstGeom>
          <a:noFill/>
          <a:ln/>
        </p:spPr>
        <p:txBody>
          <a:bodyPr wrap="square" lIns="0" tIns="0" rIns="0" bIns="0" rtlCol="0" anchor="t"/>
          <a:lstStyle/>
          <a:p>
            <a:pPr indent="0" marL="0">
              <a:buNone/>
            </a:pPr>
            <a:r>
              <a:rPr lang="en-US" sz="2000" b="1" dirty="0">
                <a:solidFill>
                  <a:schemeClr val="tx1"/>
                </a:solidFill>
              </a:rPr>
              <a:t>The fold is the controller</a:t>
            </a:r>
            <a:endParaRPr lang="en-US" sz="2000" dirty="0"/>
          </a:p>
        </p:txBody>
      </p:sp>
      <p:sp>
        <p:nvSpPr>
          <p:cNvPr id="13" name="Text 9"/>
          <p:cNvSpPr txBox="1"/>
          <p:nvPr/>
        </p:nvSpPr>
        <p:spPr>
          <a:xfrm>
            <a:off x="4663440" y="3520440"/>
            <a:ext cx="2926080" cy="1005840"/>
          </a:xfrm>
          <a:prstGeom prst="rect">
            <a:avLst/>
          </a:prstGeom>
          <a:noFill/>
          <a:ln/>
        </p:spPr>
        <p:txBody>
          <a:bodyPr wrap="square" lIns="0" tIns="0" rIns="0" bIns="0" rtlCol="0" anchor="t"/>
          <a:lstStyle/>
          <a:p>
            <a:pPr indent="0" marL="0">
              <a:buNone/>
            </a:pPr>
            <a:r>
              <a:rPr lang="en-US" sz="1400" dirty="0">
                <a:solidFill>
                  <a:schemeClr val="tx2"/>
                </a:solidFill>
              </a:rPr>
              <a:t>On iPhone Duo the hinge is the input: flip flashcards, dial through history, guard Swift's isolation boundary.</a:t>
            </a:r>
            <a:endParaRPr lang="en-US" sz="1400" dirty="0"/>
          </a:p>
        </p:txBody>
      </p:sp>
      <p:sp>
        <p:nvSpPr>
          <p:cNvPr id="14" name="pillar-2"/>
          <p:cNvSpPr/>
          <p:nvPr/>
        </p:nvSpPr>
        <p:spPr>
          <a:xfrm>
            <a:off x="8138160" y="1645920"/>
            <a:ext cx="3520440" cy="2971800"/>
          </a:xfrm>
          <a:prstGeom prst="roundRect">
            <a:avLst>
              <a:gd name="adj" fmla="val 5538"/>
            </a:avLst>
          </a:prstGeom>
          <a:solidFill>
            <a:schemeClr val="bg2"/>
          </a:solidFill>
          <a:ln w="9525">
            <a:solidFill>
              <a:srgbClr val="2A2A35"/>
            </a:solidFill>
            <a:prstDash val="solid"/>
          </a:ln>
        </p:spPr>
      </p:sp>
      <p:sp>
        <p:nvSpPr>
          <p:cNvPr id="15" name="badge-IoSparkles"/>
          <p:cNvSpPr/>
          <p:nvPr/>
        </p:nvSpPr>
        <p:spPr>
          <a:xfrm>
            <a:off x="8458200" y="1965960"/>
            <a:ext cx="640080" cy="640080"/>
          </a:xfrm>
          <a:prstGeom prst="ellipse">
            <a:avLst/>
          </a:prstGeom>
          <a:solidFill>
            <a:schemeClr val="accent4">
              <a:alpha val="22000"/>
            </a:schemeClr>
          </a:solidFill>
          <a:ln/>
        </p:spPr>
      </p:sp>
      <p:pic>
        <p:nvPicPr>
          <p:cNvPr id="16" name="Image 2" descr="Sparkles icon">    </p:cNvPr>
          <p:cNvPicPr>
            <a:picLocks noChangeAspect="1"/>
          </p:cNvPicPr>
          <p:nvPr/>
        </p:nvPicPr>
        <p:blipFill>
          <a:blip r:embed="rId3"/>
          <a:stretch>
            <a:fillRect/>
          </a:stretch>
        </p:blipFill>
        <p:spPr>
          <a:xfrm>
            <a:off x="8599018" y="2106778"/>
            <a:ext cx="358445" cy="358445"/>
          </a:xfrm>
          <a:prstGeom prst="rect">
            <a:avLst/>
          </a:prstGeom>
        </p:spPr>
      </p:pic>
      <p:sp>
        <p:nvSpPr>
          <p:cNvPr id="17" name="Text 12"/>
          <p:cNvSpPr txBox="1"/>
          <p:nvPr/>
        </p:nvSpPr>
        <p:spPr>
          <a:xfrm>
            <a:off x="8458200" y="2743200"/>
            <a:ext cx="2926080" cy="731520"/>
          </a:xfrm>
          <a:prstGeom prst="rect">
            <a:avLst/>
          </a:prstGeom>
          <a:noFill/>
          <a:ln/>
        </p:spPr>
        <p:txBody>
          <a:bodyPr wrap="square" lIns="0" tIns="0" rIns="0" bIns="0" rtlCol="0" anchor="t"/>
          <a:lstStyle/>
          <a:p>
            <a:pPr indent="0" marL="0">
              <a:buNone/>
            </a:pPr>
            <a:r>
              <a:rPr lang="en-US" sz="2000" b="1" dirty="0">
                <a:solidFill>
                  <a:schemeClr val="tx1"/>
                </a:solidFill>
              </a:rPr>
              <a:t>A private AI coach</a:t>
            </a:r>
            <a:endParaRPr lang="en-US" sz="2000" dirty="0"/>
          </a:p>
        </p:txBody>
      </p:sp>
      <p:sp>
        <p:nvSpPr>
          <p:cNvPr id="18" name="Text 13"/>
          <p:cNvSpPr txBox="1"/>
          <p:nvPr/>
        </p:nvSpPr>
        <p:spPr>
          <a:xfrm>
            <a:off x="8458200" y="3520440"/>
            <a:ext cx="2926080" cy="1005840"/>
          </a:xfrm>
          <a:prstGeom prst="rect">
            <a:avLst/>
          </a:prstGeom>
          <a:noFill/>
          <a:ln/>
        </p:spPr>
        <p:txBody>
          <a:bodyPr wrap="square" lIns="0" tIns="0" rIns="0" bIns="0" rtlCol="0" anchor="t"/>
          <a:lstStyle/>
          <a:p>
            <a:pPr indent="0" marL="0">
              <a:buNone/>
            </a:pPr>
            <a:r>
              <a:rPr lang="en-US" sz="1400" dirty="0">
                <a:solidFill>
                  <a:schemeClr val="tx2"/>
                </a:solidFill>
              </a:rPr>
              <a:t>Apple Intelligence runs on the iPhone, reviews every round and answers questions grounded in Unfold's curriculum.</a:t>
            </a:r>
            <a:endParaRPr lang="en-US" sz="1400" dirty="0"/>
          </a:p>
        </p:txBody>
      </p:sp>
      <p:sp>
        <p:nvSpPr>
          <p:cNvPr id="19" name="Text 14"/>
          <p:cNvSpPr txBox="1"/>
          <p:nvPr/>
        </p:nvSpPr>
        <p:spPr>
          <a:xfrm>
            <a:off x="548640" y="4846320"/>
            <a:ext cx="2651760" cy="1234440"/>
          </a:xfrm>
          <a:prstGeom prst="rect">
            <a:avLst/>
          </a:prstGeom>
          <a:noFill/>
          <a:ln/>
        </p:spPr>
        <p:txBody>
          <a:bodyPr wrap="square" lIns="0" tIns="0" rIns="0" bIns="0" rtlCol="0" anchor="t"/>
          <a:lstStyle/>
          <a:p>
            <a:pPr indent="0" marL="0">
              <a:buNone/>
            </a:pPr>
            <a:r>
              <a:rPr lang="en-US" sz="4400" b="1" dirty="0">
                <a:solidFill>
                  <a:schemeClr val="accent2"/>
                </a:solidFill>
              </a:rPr>
              <a:t>4</a:t>
            </a:r>
            <a:endParaRPr lang="en-US" sz="4400" dirty="0"/>
          </a:p>
          <a:p>
            <a:pPr indent="0" marL="0">
              <a:buNone/>
            </a:pPr>
            <a:r>
              <a:rPr lang="en-US" sz="1300" dirty="0">
                <a:solidFill>
                  <a:schemeClr val="tx2"/>
                </a:solidFill>
              </a:rPr>
              <a:t>fold-native games</a:t>
            </a:r>
            <a:endParaRPr lang="en-US" sz="4400" dirty="0"/>
          </a:p>
        </p:txBody>
      </p:sp>
      <p:sp>
        <p:nvSpPr>
          <p:cNvPr id="20" name="Text 15"/>
          <p:cNvSpPr txBox="1"/>
          <p:nvPr/>
        </p:nvSpPr>
        <p:spPr>
          <a:xfrm>
            <a:off x="3383280" y="4846320"/>
            <a:ext cx="2651760" cy="1234440"/>
          </a:xfrm>
          <a:prstGeom prst="rect">
            <a:avLst/>
          </a:prstGeom>
          <a:noFill/>
          <a:ln/>
        </p:spPr>
        <p:txBody>
          <a:bodyPr wrap="square" lIns="0" tIns="0" rIns="0" bIns="0" rtlCol="0" anchor="t"/>
          <a:lstStyle/>
          <a:p>
            <a:pPr indent="0" marL="0">
              <a:buNone/>
            </a:pPr>
            <a:r>
              <a:rPr lang="en-US" sz="4400" b="1" dirty="0">
                <a:solidFill>
                  <a:schemeClr val="accent3"/>
                </a:solidFill>
              </a:rPr>
              <a:t>80</a:t>
            </a:r>
            <a:endParaRPr lang="en-US" sz="4400" dirty="0"/>
          </a:p>
          <a:p>
            <a:pPr indent="0" marL="0">
              <a:buNone/>
            </a:pPr>
            <a:r>
              <a:rPr lang="en-US" sz="1300" dirty="0">
                <a:solidFill>
                  <a:schemeClr val="tx2"/>
                </a:solidFill>
              </a:rPr>
              <a:t>Apple concepts</a:t>
            </a:r>
            <a:endParaRPr lang="en-US" sz="4400" dirty="0"/>
          </a:p>
        </p:txBody>
      </p:sp>
      <p:sp>
        <p:nvSpPr>
          <p:cNvPr id="21" name="Text 16"/>
          <p:cNvSpPr txBox="1"/>
          <p:nvPr/>
        </p:nvSpPr>
        <p:spPr>
          <a:xfrm>
            <a:off x="6217920" y="4846320"/>
            <a:ext cx="2651760" cy="1234440"/>
          </a:xfrm>
          <a:prstGeom prst="rect">
            <a:avLst/>
          </a:prstGeom>
          <a:noFill/>
          <a:ln/>
        </p:spPr>
        <p:txBody>
          <a:bodyPr wrap="square" lIns="0" tIns="0" rIns="0" bIns="0" rtlCol="0" anchor="t"/>
          <a:lstStyle/>
          <a:p>
            <a:pPr indent="0" marL="0">
              <a:buNone/>
            </a:pPr>
            <a:r>
              <a:rPr lang="en-US" sz="4400" b="1" dirty="0">
                <a:solidFill>
                  <a:schemeClr val="accent4"/>
                </a:solidFill>
              </a:rPr>
              <a:t>100%</a:t>
            </a:r>
            <a:endParaRPr lang="en-US" sz="4400" dirty="0"/>
          </a:p>
          <a:p>
            <a:pPr indent="0" marL="0">
              <a:buNone/>
            </a:pPr>
            <a:r>
              <a:rPr lang="en-US" sz="1300" dirty="0">
                <a:solidFill>
                  <a:schemeClr val="tx2"/>
                </a:solidFill>
              </a:rPr>
              <a:t>on-device AI</a:t>
            </a:r>
            <a:endParaRPr lang="en-US" sz="4400" dirty="0"/>
          </a:p>
        </p:txBody>
      </p:sp>
      <p:sp>
        <p:nvSpPr>
          <p:cNvPr id="22" name="Text 17"/>
          <p:cNvSpPr txBox="1"/>
          <p:nvPr/>
        </p:nvSpPr>
        <p:spPr>
          <a:xfrm>
            <a:off x="9052560" y="4846320"/>
            <a:ext cx="2651760" cy="1234440"/>
          </a:xfrm>
          <a:prstGeom prst="rect">
            <a:avLst/>
          </a:prstGeom>
          <a:noFill/>
          <a:ln/>
        </p:spPr>
        <p:txBody>
          <a:bodyPr wrap="square" lIns="0" tIns="0" rIns="0" bIns="0" rtlCol="0" anchor="t"/>
          <a:lstStyle/>
          <a:p>
            <a:pPr indent="0" marL="0">
              <a:buNone/>
            </a:pPr>
            <a:r>
              <a:rPr lang="en-US" sz="4400" b="1" dirty="0">
                <a:solidFill>
                  <a:schemeClr val="accent5"/>
                </a:solidFill>
              </a:rPr>
              <a:t>0</a:t>
            </a:r>
            <a:endParaRPr lang="en-US" sz="4400" dirty="0"/>
          </a:p>
          <a:p>
            <a:pPr indent="0" marL="0">
              <a:buNone/>
            </a:pPr>
            <a:r>
              <a:rPr lang="en-US" sz="1300" dirty="0">
                <a:solidFill>
                  <a:schemeClr val="tx2"/>
                </a:solidFill>
              </a:rPr>
              <a:t>third-party libraries</a:t>
            </a:r>
            <a:endParaRPr lang="en-US" sz="4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3"/>
                </a:solidFill>
              </a:rPr>
              <a:t>IPHONE DUO · iOS 27.1</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Built on Apple's real foldable APIs, not a fake slider</a:t>
            </a:r>
            <a:endParaRPr lang="en-US" sz="3200" dirty="0"/>
          </a:p>
        </p:txBody>
      </p:sp>
      <p:sp>
        <p:nvSpPr>
          <p:cNvPr id="4" name="code-card"/>
          <p:cNvSpPr/>
          <p:nvPr/>
        </p:nvSpPr>
        <p:spPr>
          <a:xfrm>
            <a:off x="548640" y="1645920"/>
            <a:ext cx="7040880" cy="1874520"/>
          </a:xfrm>
          <a:prstGeom prst="roundRect">
            <a:avLst>
              <a:gd name="adj" fmla="val 8780"/>
            </a:avLst>
          </a:prstGeom>
          <a:solidFill>
            <a:srgbClr val="0E0E14"/>
          </a:solidFill>
          <a:ln w="9525">
            <a:solidFill>
              <a:srgbClr val="2A2A35"/>
            </a:solidFill>
            <a:prstDash val="solid"/>
          </a:ln>
        </p:spPr>
      </p:sp>
      <p:sp>
        <p:nvSpPr>
          <p:cNvPr id="5" name="Text 3"/>
          <p:cNvSpPr txBox="1"/>
          <p:nvPr/>
        </p:nvSpPr>
        <p:spPr>
          <a:xfrm>
            <a:off x="822960" y="1810512"/>
            <a:ext cx="6583680" cy="1554480"/>
          </a:xfrm>
          <a:prstGeom prst="rect">
            <a:avLst/>
          </a:prstGeom>
          <a:noFill/>
          <a:ln/>
        </p:spPr>
        <p:txBody>
          <a:bodyPr wrap="square" lIns="0" tIns="0" rIns="0" bIns="0" rtlCol="0" anchor="t"/>
          <a:lstStyle/>
          <a:p>
            <a:pPr indent="0" marL="0">
              <a:buNone/>
            </a:pPr>
            <a:r>
              <a:rPr lang="en-US" sz="1400" dirty="0">
                <a:solidFill>
                  <a:srgbClr val="F5F5F7"/>
                </a:solidFill>
                <a:latin typeface="Courier New" pitchFamily="34" charset="0"/>
                <a:ea typeface="Courier New" pitchFamily="34" charset="-122"/>
                <a:cs typeface="Courier New" pitchFamily="34" charset="-120"/>
              </a:rPr>
              <a:t>.onHingeChange { _, context in</a:t>
            </a:r>
            <a:endParaRPr lang="en-US" sz="1400" dirty="0"/>
          </a:p>
          <a:p>
            <a:pPr indent="0" marL="0">
              <a:buNone/>
            </a:pPr>
            <a:r>
              <a:rPr lang="en-US" sz="1400" dirty="0">
                <a:solidFill>
                  <a:srgbClr val="5DD8FF"/>
                </a:solidFill>
                <a:latin typeface="Courier New" pitchFamily="34" charset="0"/>
                <a:ea typeface="Courier New" pitchFamily="34" charset="-122"/>
                <a:cs typeface="Courier New" pitchFamily="34" charset="-120"/>
              </a:rPr>
              <a:t>    fold.hingeChanged(degrees: context.hinge?.angle.degrees)</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D8F3F"/>
                </a:solidFill>
                <a:latin typeface="Courier New" pitchFamily="34" charset="0"/>
                <a:ea typeface="Courier New" pitchFamily="34" charset="-122"/>
                <a:cs typeface="Courier New" pitchFamily="34" charset="-120"/>
              </a:rPr>
              <a:t>geo.reservedRegions(kind: .division)  // the crease</a:t>
            </a:r>
            <a:endParaRPr lang="en-US" sz="1400" dirty="0"/>
          </a:p>
        </p:txBody>
      </p:sp>
      <p:sp>
        <p:nvSpPr>
          <p:cNvPr id="6" name="badge-IoSpeedometerOutline"/>
          <p:cNvSpPr/>
          <p:nvPr/>
        </p:nvSpPr>
        <p:spPr>
          <a:xfrm>
            <a:off x="548640" y="3813048"/>
            <a:ext cx="512064" cy="512064"/>
          </a:xfrm>
          <a:prstGeom prst="ellipse">
            <a:avLst/>
          </a:prstGeom>
          <a:solidFill>
            <a:schemeClr val="accent3">
              <a:alpha val="22000"/>
            </a:schemeClr>
          </a:solidFill>
          <a:ln/>
        </p:spPr>
      </p:sp>
      <p:pic>
        <p:nvPicPr>
          <p:cNvPr id="7" name="Image 0" descr="SpeedometerOutline icon">    </p:cNvPr>
          <p:cNvPicPr>
            <a:picLocks noChangeAspect="1"/>
          </p:cNvPicPr>
          <p:nvPr/>
        </p:nvPicPr>
        <p:blipFill>
          <a:blip r:embed="rId1"/>
          <a:stretch>
            <a:fillRect/>
          </a:stretch>
        </p:blipFill>
        <p:spPr>
          <a:xfrm>
            <a:off x="661294" y="3925702"/>
            <a:ext cx="286756" cy="286756"/>
          </a:xfrm>
          <a:prstGeom prst="rect">
            <a:avLst/>
          </a:prstGeom>
        </p:spPr>
      </p:pic>
      <p:sp>
        <p:nvSpPr>
          <p:cNvPr id="8" name="Text 5"/>
          <p:cNvSpPr txBox="1"/>
          <p:nvPr/>
        </p:nvSpPr>
        <p:spPr>
          <a:xfrm>
            <a:off x="1261872" y="3794760"/>
            <a:ext cx="63276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Live hinge angle and status</a:t>
            </a:r>
            <a:endParaRPr lang="en-US" sz="1600" dirty="0"/>
          </a:p>
          <a:p>
            <a:pPr indent="0" marL="0">
              <a:spcAft>
                <a:spcPts val="300"/>
              </a:spcAft>
              <a:buNone/>
            </a:pPr>
            <a:r>
              <a:rPr lang="en-US" sz="1300" dirty="0">
                <a:solidFill>
                  <a:schemeClr val="tx2"/>
                </a:solidFill>
              </a:rPr>
              <a:t>onHingeChange feeds one FoldState; the iPhone Duo Simulator reports it live (right).</a:t>
            </a:r>
            <a:endParaRPr lang="en-US" sz="1600" dirty="0"/>
          </a:p>
        </p:txBody>
      </p:sp>
      <p:sp>
        <p:nvSpPr>
          <p:cNvPr id="9" name="badge-IoLayersOutline"/>
          <p:cNvSpPr/>
          <p:nvPr/>
        </p:nvSpPr>
        <p:spPr>
          <a:xfrm>
            <a:off x="548640" y="4590288"/>
            <a:ext cx="512064" cy="512064"/>
          </a:xfrm>
          <a:prstGeom prst="ellipse">
            <a:avLst/>
          </a:prstGeom>
          <a:solidFill>
            <a:schemeClr val="accent3">
              <a:alpha val="22000"/>
            </a:schemeClr>
          </a:solidFill>
          <a:ln/>
        </p:spPr>
      </p:sp>
      <p:pic>
        <p:nvPicPr>
          <p:cNvPr id="10" name="Image 1" descr="LayersOutline icon">    </p:cNvPr>
          <p:cNvPicPr>
            <a:picLocks noChangeAspect="1"/>
          </p:cNvPicPr>
          <p:nvPr/>
        </p:nvPicPr>
        <p:blipFill>
          <a:blip r:embed="rId2"/>
          <a:stretch>
            <a:fillRect/>
          </a:stretch>
        </p:blipFill>
        <p:spPr>
          <a:xfrm>
            <a:off x="661294" y="4702942"/>
            <a:ext cx="286756" cy="286756"/>
          </a:xfrm>
          <a:prstGeom prst="rect">
            <a:avLst/>
          </a:prstGeom>
        </p:spPr>
      </p:pic>
      <p:sp>
        <p:nvSpPr>
          <p:cNvPr id="11" name="Text 7"/>
          <p:cNvSpPr txBox="1"/>
          <p:nvPr/>
        </p:nvSpPr>
        <p:spPr>
          <a:xfrm>
            <a:off x="1261872" y="4572000"/>
            <a:ext cx="63276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Displacement on the crease</a:t>
            </a:r>
            <a:endParaRPr lang="en-US" sz="1600" dirty="0"/>
          </a:p>
          <a:p>
            <a:pPr indent="0" marL="0">
              <a:spcAft>
                <a:spcPts val="300"/>
              </a:spcAft>
              <a:buNone/>
            </a:pPr>
            <a:r>
              <a:rPr lang="en-US" sz="1300" dirty="0">
                <a:solidFill>
                  <a:schemeClr val="tx2"/>
                </a:solidFill>
              </a:rPr>
              <a:t>The fold is a reserved region, so content moves off it instead of being cut in half.</a:t>
            </a:r>
            <a:endParaRPr lang="en-US" sz="1600" dirty="0"/>
          </a:p>
        </p:txBody>
      </p:sp>
      <p:sp>
        <p:nvSpPr>
          <p:cNvPr id="12" name="badge-IoOptionsOutline"/>
          <p:cNvSpPr/>
          <p:nvPr/>
        </p:nvSpPr>
        <p:spPr>
          <a:xfrm>
            <a:off x="548640" y="5367528"/>
            <a:ext cx="512064" cy="512064"/>
          </a:xfrm>
          <a:prstGeom prst="ellipse">
            <a:avLst/>
          </a:prstGeom>
          <a:solidFill>
            <a:schemeClr val="accent1">
              <a:alpha val="22000"/>
            </a:schemeClr>
          </a:solidFill>
          <a:ln/>
        </p:spPr>
      </p:sp>
      <p:pic>
        <p:nvPicPr>
          <p:cNvPr id="13" name="Image 2" descr="OptionsOutline icon">    </p:cNvPr>
          <p:cNvPicPr>
            <a:picLocks noChangeAspect="1"/>
          </p:cNvPicPr>
          <p:nvPr/>
        </p:nvPicPr>
        <p:blipFill>
          <a:blip r:embed="rId3"/>
          <a:stretch>
            <a:fillRect/>
          </a:stretch>
        </p:blipFill>
        <p:spPr>
          <a:xfrm>
            <a:off x="661294" y="5480182"/>
            <a:ext cx="286756" cy="286756"/>
          </a:xfrm>
          <a:prstGeom prst="rect">
            <a:avLst/>
          </a:prstGeom>
        </p:spPr>
      </p:pic>
      <p:sp>
        <p:nvSpPr>
          <p:cNvPr id="14" name="Text 9"/>
          <p:cNvSpPr txBox="1"/>
          <p:nvPr/>
        </p:nvSpPr>
        <p:spPr>
          <a:xfrm>
            <a:off x="1261872" y="5349240"/>
            <a:ext cx="63276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Presenter hinge</a:t>
            </a:r>
            <a:endParaRPr lang="en-US" sz="1600" dirty="0"/>
          </a:p>
          <a:p>
            <a:pPr indent="0" marL="0">
              <a:spcAft>
                <a:spcPts val="300"/>
              </a:spcAft>
              <a:buNone/>
            </a:pPr>
            <a:r>
              <a:rPr lang="en-US" sz="1300" dirty="0">
                <a:solidFill>
                  <a:schemeClr val="tx2"/>
                </a:solidFill>
              </a:rPr>
              <a:t>A Liquid Glass slider drives the same engine, so fold play can be shown on any iPhone.</a:t>
            </a:r>
            <a:endParaRPr lang="en-US" sz="1600" dirty="0"/>
          </a:p>
        </p:txBody>
      </p:sp>
      <p:pic>
        <p:nvPicPr>
          <p:cNvPr id="15" name="Image 3" descr="Journey screen reading the live hinge: Live from iPhone Duo, 0 degrees">    </p:cNvPr>
          <p:cNvPicPr>
            <a:picLocks noChangeAspect="1"/>
          </p:cNvPicPr>
          <p:nvPr/>
        </p:nvPicPr>
        <p:blipFill>
          <a:blip r:embed="rId4"/>
          <a:stretch>
            <a:fillRect/>
          </a:stretch>
        </p:blipFill>
        <p:spPr>
          <a:xfrm>
            <a:off x="8275320" y="1600200"/>
            <a:ext cx="3172968" cy="4617720"/>
          </a:xfrm>
          <a:prstGeom prst="rect">
            <a:avLst/>
          </a:prstGeom>
          <a:effectLst>
            <a:outerShdw sx="100000" sy="100000" kx="0" ky="0" algn="bl" rotWithShape="0" blurRad="228600" dist="76200" dir="5400000">
              <a:srgbClr val="000000">
                <a:alpha val="55000"/>
              </a:srgbClr>
            </a:outerShdw>
          </a:effectLst>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3"/>
                </a:solidFill>
              </a:rPr>
              <a:t>GAME 1 · FRAMEWORKS</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Fold &amp; Flip: the card turns on the hinge's own axis</a:t>
            </a:r>
            <a:endParaRPr lang="en-US" sz="3200" dirty="0"/>
          </a:p>
        </p:txBody>
      </p:sp>
      <p:pic>
        <p:nvPicPr>
          <p:cNvPr id="4" name="Image 0" descr="Fold and Flip on the inner display in book pose, the card turning like a page">    </p:cNvPr>
          <p:cNvPicPr>
            <a:picLocks noChangeAspect="1"/>
          </p:cNvPicPr>
          <p:nvPr/>
        </p:nvPicPr>
        <p:blipFill>
          <a:blip r:embed="rId1"/>
          <a:stretch>
            <a:fillRect/>
          </a:stretch>
        </p:blipFill>
        <p:spPr>
          <a:xfrm>
            <a:off x="548640" y="1691640"/>
            <a:ext cx="5394960" cy="3794760"/>
          </a:xfrm>
          <a:prstGeom prst="rect">
            <a:avLst/>
          </a:prstGeom>
          <a:effectLst>
            <a:outerShdw sx="100000" sy="100000" kx="0" ky="0" algn="bl" rotWithShape="0" blurRad="228600" dist="76200" dir="5400000">
              <a:srgbClr val="000000">
                <a:alpha val="55000"/>
              </a:srgbClr>
            </a:outerShdw>
          </a:effectLst>
        </p:spPr>
      </p:pic>
      <p:pic>
        <p:nvPicPr>
          <p:cNvPr id="5" name="Image 1" descr="Cover display at 155 degrees, the card tilting back with the hinge">    </p:cNvPr>
          <p:cNvPicPr>
            <a:picLocks noChangeAspect="1"/>
          </p:cNvPicPr>
          <p:nvPr/>
        </p:nvPicPr>
        <p:blipFill>
          <a:blip r:embed="rId2"/>
          <a:stretch>
            <a:fillRect/>
          </a:stretch>
        </p:blipFill>
        <p:spPr>
          <a:xfrm>
            <a:off x="6217920" y="1691640"/>
            <a:ext cx="2606040" cy="3794760"/>
          </a:xfrm>
          <a:prstGeom prst="rect">
            <a:avLst/>
          </a:prstGeom>
          <a:effectLst>
            <a:outerShdw sx="100000" sy="100000" kx="0" ky="0" algn="bl" rotWithShape="0" blurRad="228600" dist="76200" dir="5400000">
              <a:srgbClr val="000000">
                <a:alpha val="55000"/>
              </a:srgbClr>
            </a:outerShdw>
          </a:effectLst>
        </p:spPr>
      </p:pic>
      <p:pic>
        <p:nvPicPr>
          <p:cNvPr id="6" name="Image 2" descr="Past 90 degrees the answer is revealed, with grading buttons">    </p:cNvPr>
          <p:cNvPicPr>
            <a:picLocks noChangeAspect="1"/>
          </p:cNvPicPr>
          <p:nvPr/>
        </p:nvPicPr>
        <p:blipFill>
          <a:blip r:embed="rId3"/>
          <a:stretch>
            <a:fillRect/>
          </a:stretch>
        </p:blipFill>
        <p:spPr>
          <a:xfrm>
            <a:off x="9034272" y="1691640"/>
            <a:ext cx="2606040" cy="3794760"/>
          </a:xfrm>
          <a:prstGeom prst="rect">
            <a:avLst/>
          </a:prstGeom>
          <a:effectLst>
            <a:outerShdw sx="100000" sy="100000" kx="0" ky="0" algn="bl" rotWithShape="0" blurRad="228600" dist="76200" dir="5400000">
              <a:srgbClr val="000000">
                <a:alpha val="55000"/>
              </a:srgbClr>
            </a:outerShdw>
          </a:effectLst>
        </p:spPr>
      </p:pic>
      <p:sp>
        <p:nvSpPr>
          <p:cNvPr id="7" name="Text 2"/>
          <p:cNvSpPr txBox="1"/>
          <p:nvPr/>
        </p:nvSpPr>
        <p:spPr>
          <a:xfrm>
            <a:off x="548640" y="5596128"/>
            <a:ext cx="5394960" cy="365760"/>
          </a:xfrm>
          <a:prstGeom prst="rect">
            <a:avLst/>
          </a:prstGeom>
          <a:noFill/>
          <a:ln/>
        </p:spPr>
        <p:txBody>
          <a:bodyPr wrap="square" lIns="0" tIns="0" rIns="0" bIns="0" rtlCol="0" anchor="t"/>
          <a:lstStyle/>
          <a:p>
            <a:pPr algn="l" indent="0" marL="0">
              <a:buNone/>
            </a:pPr>
            <a:r>
              <a:rPr lang="en-US" sz="1100" dirty="0">
                <a:solidFill>
                  <a:schemeClr val="tx2"/>
                </a:solidFill>
              </a:rPr>
              <a:t>Book pose · the card turns like a page</a:t>
            </a:r>
            <a:endParaRPr lang="en-US" sz="1100" dirty="0"/>
          </a:p>
        </p:txBody>
      </p:sp>
      <p:sp>
        <p:nvSpPr>
          <p:cNvPr id="8" name="Text 3"/>
          <p:cNvSpPr txBox="1"/>
          <p:nvPr/>
        </p:nvSpPr>
        <p:spPr>
          <a:xfrm>
            <a:off x="6217920" y="5596128"/>
            <a:ext cx="2606040" cy="365760"/>
          </a:xfrm>
          <a:prstGeom prst="rect">
            <a:avLst/>
          </a:prstGeom>
          <a:noFill/>
          <a:ln/>
        </p:spPr>
        <p:txBody>
          <a:bodyPr wrap="square" lIns="0" tIns="0" rIns="0" bIns="0" rtlCol="0" anchor="t"/>
          <a:lstStyle/>
          <a:p>
            <a:pPr algn="l" indent="0" marL="0">
              <a:buNone/>
            </a:pPr>
            <a:r>
              <a:rPr lang="en-US" sz="1100" dirty="0">
                <a:solidFill>
                  <a:schemeClr val="tx2"/>
                </a:solidFill>
              </a:rPr>
              <a:t>Laptop pose, 155° · tilts with the hinge</a:t>
            </a:r>
            <a:endParaRPr lang="en-US" sz="1100" dirty="0"/>
          </a:p>
        </p:txBody>
      </p:sp>
      <p:sp>
        <p:nvSpPr>
          <p:cNvPr id="9" name="Text 4"/>
          <p:cNvSpPr txBox="1"/>
          <p:nvPr/>
        </p:nvSpPr>
        <p:spPr>
          <a:xfrm>
            <a:off x="9034272" y="5596128"/>
            <a:ext cx="2606040" cy="365760"/>
          </a:xfrm>
          <a:prstGeom prst="rect">
            <a:avLst/>
          </a:prstGeom>
          <a:noFill/>
          <a:ln/>
        </p:spPr>
        <p:txBody>
          <a:bodyPr wrap="square" lIns="0" tIns="0" rIns="0" bIns="0" rtlCol="0" anchor="t"/>
          <a:lstStyle/>
          <a:p>
            <a:pPr algn="l" indent="0" marL="0">
              <a:buNone/>
            </a:pPr>
            <a:r>
              <a:rPr lang="en-US" sz="1100" dirty="0">
                <a:solidFill>
                  <a:schemeClr val="tx2"/>
                </a:solidFill>
              </a:rPr>
              <a:t>Past 90° · the answer, then unfold to deal</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4"/>
                </a:solidFill>
              </a:rPr>
              <a:t>GAME 2 · ECOSYSTEM</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Time Hinge: the hinge is a dial through fifty years of Apple</a:t>
            </a:r>
            <a:endParaRPr lang="en-US" sz="3200" dirty="0"/>
          </a:p>
        </p:txBody>
      </p:sp>
      <p:pic>
        <p:nvPicPr>
          <p:cNvPr id="4" name="Image 0" descr="Time Hinge in book pose: the story on the left page, the protractor dial on the right">    </p:cNvPr>
          <p:cNvPicPr>
            <a:picLocks noChangeAspect="1"/>
          </p:cNvPicPr>
          <p:nvPr/>
        </p:nvPicPr>
        <p:blipFill>
          <a:blip r:embed="rId1"/>
          <a:stretch>
            <a:fillRect/>
          </a:stretch>
        </p:blipFill>
        <p:spPr>
          <a:xfrm>
            <a:off x="548640" y="1691640"/>
            <a:ext cx="6400800" cy="4498848"/>
          </a:xfrm>
          <a:prstGeom prst="rect">
            <a:avLst/>
          </a:prstGeom>
          <a:effectLst>
            <a:outerShdw sx="100000" sy="100000" kx="0" ky="0" algn="bl" rotWithShape="0" blurRad="228600" dist="76200" dir="5400000">
              <a:srgbClr val="000000">
                <a:alpha val="55000"/>
              </a:srgbClr>
            </a:outerShdw>
          </a:effectLst>
        </p:spPr>
      </p:pic>
      <p:sp>
        <p:nvSpPr>
          <p:cNvPr id="5" name="step-1"/>
          <p:cNvSpPr/>
          <p:nvPr/>
        </p:nvSpPr>
        <p:spPr>
          <a:xfrm>
            <a:off x="7269480" y="1691640"/>
            <a:ext cx="4370832" cy="1371600"/>
          </a:xfrm>
          <a:prstGeom prst="roundRect">
            <a:avLst>
              <a:gd name="adj" fmla="val 12000"/>
            </a:avLst>
          </a:prstGeom>
          <a:solidFill>
            <a:schemeClr val="bg2"/>
          </a:solidFill>
          <a:ln w="9525">
            <a:solidFill>
              <a:srgbClr val="2A2A35"/>
            </a:solidFill>
            <a:prstDash val="solid"/>
          </a:ln>
        </p:spPr>
      </p:sp>
      <p:sp>
        <p:nvSpPr>
          <p:cNvPr id="6" name="Text 3"/>
          <p:cNvSpPr txBox="1"/>
          <p:nvPr/>
        </p:nvSpPr>
        <p:spPr>
          <a:xfrm>
            <a:off x="7498080" y="1947672"/>
            <a:ext cx="457200" cy="548640"/>
          </a:xfrm>
          <a:prstGeom prst="rect">
            <a:avLst/>
          </a:prstGeom>
          <a:noFill/>
          <a:ln/>
        </p:spPr>
        <p:txBody>
          <a:bodyPr wrap="square" lIns="0" tIns="0" rIns="0" bIns="0" rtlCol="0" anchor="t"/>
          <a:lstStyle/>
          <a:p>
            <a:pPr indent="0" marL="0">
              <a:buNone/>
            </a:pPr>
            <a:r>
              <a:rPr lang="en-US" sz="3000" b="1" dirty="0">
                <a:solidFill>
                  <a:schemeClr val="accent4"/>
                </a:solidFill>
              </a:rPr>
              <a:t>1</a:t>
            </a:r>
            <a:endParaRPr lang="en-US" sz="3000" dirty="0"/>
          </a:p>
        </p:txBody>
      </p:sp>
      <p:sp>
        <p:nvSpPr>
          <p:cNvPr id="7" name="Text 4"/>
          <p:cNvSpPr txBox="1"/>
          <p:nvPr/>
        </p:nvSpPr>
        <p:spPr>
          <a:xfrm>
            <a:off x="8046720" y="1920240"/>
            <a:ext cx="3429000" cy="10058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Read the moment</a:t>
            </a:r>
            <a:endParaRPr lang="en-US" sz="1600" dirty="0"/>
          </a:p>
          <a:p>
            <a:pPr indent="0" marL="0">
              <a:spcAft>
                <a:spcPts val="300"/>
              </a:spcAft>
              <a:buNone/>
            </a:pPr>
            <a:r>
              <a:rPr lang="en-US" sz="1300" dirty="0">
                <a:solidFill>
                  <a:schemeClr val="tx2"/>
                </a:solidFill>
              </a:rPr>
              <a:t>From Apple's founding in 1976 to iPhone Duo in 2026.</a:t>
            </a:r>
            <a:endParaRPr lang="en-US" sz="1600" dirty="0"/>
          </a:p>
        </p:txBody>
      </p:sp>
      <p:sp>
        <p:nvSpPr>
          <p:cNvPr id="8" name="step-2"/>
          <p:cNvSpPr/>
          <p:nvPr/>
        </p:nvSpPr>
        <p:spPr>
          <a:xfrm>
            <a:off x="7269480" y="3227832"/>
            <a:ext cx="4370832" cy="1371600"/>
          </a:xfrm>
          <a:prstGeom prst="roundRect">
            <a:avLst>
              <a:gd name="adj" fmla="val 12000"/>
            </a:avLst>
          </a:prstGeom>
          <a:solidFill>
            <a:schemeClr val="bg2"/>
          </a:solidFill>
          <a:ln w="9525">
            <a:solidFill>
              <a:srgbClr val="2A2A35"/>
            </a:solidFill>
            <a:prstDash val="solid"/>
          </a:ln>
        </p:spPr>
      </p:sp>
      <p:sp>
        <p:nvSpPr>
          <p:cNvPr id="9" name="Text 6"/>
          <p:cNvSpPr txBox="1"/>
          <p:nvPr/>
        </p:nvSpPr>
        <p:spPr>
          <a:xfrm>
            <a:off x="7498080" y="3483864"/>
            <a:ext cx="457200" cy="548640"/>
          </a:xfrm>
          <a:prstGeom prst="rect">
            <a:avLst/>
          </a:prstGeom>
          <a:noFill/>
          <a:ln/>
        </p:spPr>
        <p:txBody>
          <a:bodyPr wrap="square" lIns="0" tIns="0" rIns="0" bIns="0" rtlCol="0" anchor="t"/>
          <a:lstStyle/>
          <a:p>
            <a:pPr indent="0" marL="0">
              <a:buNone/>
            </a:pPr>
            <a:r>
              <a:rPr lang="en-US" sz="3000" b="1" dirty="0">
                <a:solidFill>
                  <a:schemeClr val="accent4"/>
                </a:solidFill>
              </a:rPr>
              <a:t>2</a:t>
            </a:r>
            <a:endParaRPr lang="en-US" sz="3000" dirty="0"/>
          </a:p>
        </p:txBody>
      </p:sp>
      <p:sp>
        <p:nvSpPr>
          <p:cNvPr id="10" name="Text 7"/>
          <p:cNvSpPr txBox="1"/>
          <p:nvPr/>
        </p:nvSpPr>
        <p:spPr>
          <a:xfrm>
            <a:off x="8046720" y="3456432"/>
            <a:ext cx="3429000" cy="10058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Fold to dial the year</a:t>
            </a:r>
            <a:endParaRPr lang="en-US" sz="1600" dirty="0"/>
          </a:p>
          <a:p>
            <a:pPr indent="0" marL="0">
              <a:spcAft>
                <a:spcPts val="300"/>
              </a:spcAft>
              <a:buNone/>
            </a:pPr>
            <a:r>
              <a:rPr lang="en-US" sz="1300" dirty="0">
                <a:solidFill>
                  <a:schemeClr val="tx2"/>
                </a:solidFill>
              </a:rPr>
              <a:t>The hinge's 40°–180° sweep maps onto 1976–2026, like a protractor.</a:t>
            </a:r>
            <a:endParaRPr lang="en-US" sz="1600" dirty="0"/>
          </a:p>
        </p:txBody>
      </p:sp>
      <p:sp>
        <p:nvSpPr>
          <p:cNvPr id="11" name="step-3"/>
          <p:cNvSpPr/>
          <p:nvPr/>
        </p:nvSpPr>
        <p:spPr>
          <a:xfrm>
            <a:off x="7269480" y="4764024"/>
            <a:ext cx="4370832" cy="1371600"/>
          </a:xfrm>
          <a:prstGeom prst="roundRect">
            <a:avLst>
              <a:gd name="adj" fmla="val 12000"/>
            </a:avLst>
          </a:prstGeom>
          <a:solidFill>
            <a:schemeClr val="bg2"/>
          </a:solidFill>
          <a:ln w="9525">
            <a:solidFill>
              <a:srgbClr val="2A2A35"/>
            </a:solidFill>
            <a:prstDash val="solid"/>
          </a:ln>
        </p:spPr>
      </p:sp>
      <p:sp>
        <p:nvSpPr>
          <p:cNvPr id="12" name="Text 9"/>
          <p:cNvSpPr txBox="1"/>
          <p:nvPr/>
        </p:nvSpPr>
        <p:spPr>
          <a:xfrm>
            <a:off x="7498080" y="5020056"/>
            <a:ext cx="457200" cy="548640"/>
          </a:xfrm>
          <a:prstGeom prst="rect">
            <a:avLst/>
          </a:prstGeom>
          <a:noFill/>
          <a:ln/>
        </p:spPr>
        <p:txBody>
          <a:bodyPr wrap="square" lIns="0" tIns="0" rIns="0" bIns="0" rtlCol="0" anchor="t"/>
          <a:lstStyle/>
          <a:p>
            <a:pPr indent="0" marL="0">
              <a:buNone/>
            </a:pPr>
            <a:r>
              <a:rPr lang="en-US" sz="3000" b="1" dirty="0">
                <a:solidFill>
                  <a:schemeClr val="accent4"/>
                </a:solidFill>
              </a:rPr>
              <a:t>3</a:t>
            </a:r>
            <a:endParaRPr lang="en-US" sz="3000" dirty="0"/>
          </a:p>
        </p:txBody>
      </p:sp>
      <p:sp>
        <p:nvSpPr>
          <p:cNvPr id="13" name="Text 10"/>
          <p:cNvSpPr txBox="1"/>
          <p:nvPr/>
        </p:nvSpPr>
        <p:spPr>
          <a:xfrm>
            <a:off x="8046720" y="4992624"/>
            <a:ext cx="3429000" cy="10058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Hold still to lock</a:t>
            </a:r>
            <a:endParaRPr lang="en-US" sz="1600" dirty="0"/>
          </a:p>
          <a:p>
            <a:pPr indent="0" marL="0">
              <a:spcAft>
                <a:spcPts val="300"/>
              </a:spcAft>
              <a:buNone/>
            </a:pPr>
            <a:r>
              <a:rPr lang="en-US" sz="1300" dirty="0">
                <a:solidFill>
                  <a:schemeClr val="tx2"/>
                </a:solidFill>
              </a:rPr>
              <a:t>After 1.3 seconds it locks. Exact scores 100; one year off scores 70.</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GAME 3 · SWIFT CONCURRENCY</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Data Race: the crease becomes Swift's isolation boundary</a:t>
            </a:r>
            <a:endParaRPr lang="en-US" sz="3200" dirty="0"/>
          </a:p>
        </p:txBody>
      </p:sp>
      <p:pic>
        <p:nvPicPr>
          <p:cNvPr id="4" name="Image 0" descr="Data Race in book pose: MainActor on the left page, actor Store on the right, the boundary on the crease">    </p:cNvPr>
          <p:cNvPicPr>
            <a:picLocks noChangeAspect="1"/>
          </p:cNvPicPr>
          <p:nvPr/>
        </p:nvPicPr>
        <p:blipFill>
          <a:blip r:embed="rId1"/>
          <a:stretch>
            <a:fillRect/>
          </a:stretch>
        </p:blipFill>
        <p:spPr>
          <a:xfrm>
            <a:off x="548640" y="1691640"/>
            <a:ext cx="5852160" cy="4114800"/>
          </a:xfrm>
          <a:prstGeom prst="rect">
            <a:avLst/>
          </a:prstGeom>
          <a:effectLst>
            <a:outerShdw sx="100000" sy="100000" kx="0" ky="0" algn="bl" rotWithShape="0" blurRad="228600" dist="76200" dir="5400000">
              <a:srgbClr val="000000">
                <a:alpha val="55000"/>
              </a:srgbClr>
            </a:outerShdw>
          </a:effectLst>
        </p:spPr>
      </p:pic>
      <p:pic>
        <p:nvPicPr>
          <p:cNvPr id="5" name="Image 1" descr="A data race: sending a mutable class shows the Swift 6 diagnostic">    </p:cNvPr>
          <p:cNvPicPr>
            <a:picLocks noChangeAspect="1"/>
          </p:cNvPicPr>
          <p:nvPr/>
        </p:nvPicPr>
        <p:blipFill>
          <a:blip r:embed="rId2"/>
          <a:stretch>
            <a:fillRect/>
          </a:stretch>
        </p:blipFill>
        <p:spPr>
          <a:xfrm>
            <a:off x="6675120" y="1691640"/>
            <a:ext cx="2834640" cy="4114800"/>
          </a:xfrm>
          <a:prstGeom prst="rect">
            <a:avLst/>
          </a:prstGeom>
          <a:effectLst>
            <a:outerShdw sx="100000" sy="100000" kx="0" ky="0" algn="bl" rotWithShape="0" blurRad="228600" dist="76200" dir="5400000">
              <a:srgbClr val="000000">
                <a:alpha val="55000"/>
              </a:srgbClr>
            </a:outerShdw>
          </a:effectLst>
        </p:spPr>
      </p:pic>
      <p:sp>
        <p:nvSpPr>
          <p:cNvPr id="6" name="fact-0"/>
          <p:cNvSpPr/>
          <p:nvPr/>
        </p:nvSpPr>
        <p:spPr>
          <a:xfrm>
            <a:off x="9784080" y="1691640"/>
            <a:ext cx="1856232" cy="1280160"/>
          </a:xfrm>
          <a:prstGeom prst="roundRect">
            <a:avLst>
              <a:gd name="adj" fmla="val 12857"/>
            </a:avLst>
          </a:prstGeom>
          <a:solidFill>
            <a:schemeClr val="bg2"/>
          </a:solidFill>
          <a:ln w="9525">
            <a:solidFill>
              <a:srgbClr val="2A2A35"/>
            </a:solidFill>
            <a:prstDash val="solid"/>
          </a:ln>
        </p:spPr>
      </p:sp>
      <p:sp>
        <p:nvSpPr>
          <p:cNvPr id="7" name="Text 3"/>
          <p:cNvSpPr txBox="1"/>
          <p:nvPr/>
        </p:nvSpPr>
        <p:spPr>
          <a:xfrm>
            <a:off x="9921240" y="1801368"/>
            <a:ext cx="1600200" cy="109728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Only Sendable crosses</a:t>
            </a:r>
            <a:endParaRPr lang="en-US" sz="1300" dirty="0"/>
          </a:p>
          <a:p>
            <a:pPr indent="0" marL="0">
              <a:spcAft>
                <a:spcPts val="200"/>
              </a:spcAft>
              <a:buNone/>
            </a:pPr>
            <a:r>
              <a:rPr lang="en-US" sz="1100" dirty="0">
                <a:solidFill>
                  <a:schemeClr val="tx2"/>
                </a:solidFill>
              </a:rPr>
              <a:t>Drag values from @MainActor to actor Store, or keep them home.</a:t>
            </a:r>
            <a:endParaRPr lang="en-US" sz="1300" dirty="0"/>
          </a:p>
        </p:txBody>
      </p:sp>
      <p:sp>
        <p:nvSpPr>
          <p:cNvPr id="8" name="fact-1"/>
          <p:cNvSpPr/>
          <p:nvPr/>
        </p:nvSpPr>
        <p:spPr>
          <a:xfrm>
            <a:off x="9784080" y="3108960"/>
            <a:ext cx="1856232" cy="1280160"/>
          </a:xfrm>
          <a:prstGeom prst="roundRect">
            <a:avLst>
              <a:gd name="adj" fmla="val 12857"/>
            </a:avLst>
          </a:prstGeom>
          <a:solidFill>
            <a:schemeClr val="bg2"/>
          </a:solidFill>
          <a:ln w="9525">
            <a:solidFill>
              <a:srgbClr val="2A2A35"/>
            </a:solidFill>
            <a:prstDash val="solid"/>
          </a:ln>
        </p:spPr>
      </p:sp>
      <p:sp>
        <p:nvSpPr>
          <p:cNvPr id="9" name="Text 5"/>
          <p:cNvSpPr txBox="1"/>
          <p:nvPr/>
        </p:nvSpPr>
        <p:spPr>
          <a:xfrm>
            <a:off x="9921240" y="3218688"/>
            <a:ext cx="1600200" cy="109728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Real diagnostics</a:t>
            </a:r>
            <a:endParaRPr lang="en-US" sz="1300" dirty="0"/>
          </a:p>
          <a:p>
            <a:pPr indent="0" marL="0">
              <a:spcAft>
                <a:spcPts val="200"/>
              </a:spcAft>
              <a:buNone/>
            </a:pPr>
            <a:r>
              <a:rPr lang="en-US" sz="1100" dirty="0">
                <a:solidFill>
                  <a:schemeClr val="tx2"/>
                </a:solidFill>
              </a:rPr>
              <a:t>error: sending 'Counter' risks causing data races</a:t>
            </a:r>
            <a:endParaRPr lang="en-US" sz="1300" dirty="0"/>
          </a:p>
        </p:txBody>
      </p:sp>
      <p:sp>
        <p:nvSpPr>
          <p:cNvPr id="10" name="fact-2"/>
          <p:cNvSpPr/>
          <p:nvPr/>
        </p:nvSpPr>
        <p:spPr>
          <a:xfrm>
            <a:off x="9784080" y="4526280"/>
            <a:ext cx="1856232" cy="1280160"/>
          </a:xfrm>
          <a:prstGeom prst="roundRect">
            <a:avLst>
              <a:gd name="adj" fmla="val 12857"/>
            </a:avLst>
          </a:prstGeom>
          <a:solidFill>
            <a:schemeClr val="bg2"/>
          </a:solidFill>
          <a:ln w="9525">
            <a:solidFill>
              <a:srgbClr val="2A2A35"/>
            </a:solidFill>
            <a:prstDash val="solid"/>
          </a:ln>
        </p:spPr>
      </p:sp>
      <p:sp>
        <p:nvSpPr>
          <p:cNvPr id="11" name="Text 7"/>
          <p:cNvSpPr txBox="1"/>
          <p:nvPr/>
        </p:nvSpPr>
        <p:spPr>
          <a:xfrm>
            <a:off x="9921240" y="4636008"/>
            <a:ext cx="1600200" cy="109728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Pro-level traps</a:t>
            </a:r>
            <a:endParaRPr lang="en-US" sz="1300" dirty="0"/>
          </a:p>
          <a:p>
            <a:pPr indent="0" marL="0">
              <a:spcAft>
                <a:spcPts val="200"/>
              </a:spcAft>
              <a:buNone/>
            </a:pPr>
            <a:r>
              <a:rPr lang="en-US" sz="1100" dirty="0">
                <a:solidFill>
                  <a:schemeClr val="tx2"/>
                </a:solidFill>
              </a:rPr>
              <a:t>@MainActor classes are Sendable; final immutable classes are not.</a:t>
            </a:r>
            <a:endParaRPr lang="en-US" sz="1300" dirty="0"/>
          </a:p>
        </p:txBody>
      </p:sp>
      <p:sp>
        <p:nvSpPr>
          <p:cNvPr id="12" name="Text 8"/>
          <p:cNvSpPr txBox="1"/>
          <p:nvPr/>
        </p:nvSpPr>
        <p:spPr>
          <a:xfrm>
            <a:off x="548640" y="5897880"/>
            <a:ext cx="5852160" cy="365760"/>
          </a:xfrm>
          <a:prstGeom prst="rect">
            <a:avLst/>
          </a:prstGeom>
          <a:noFill/>
          <a:ln/>
        </p:spPr>
        <p:txBody>
          <a:bodyPr wrap="square" lIns="0" tIns="0" rIns="0" bIns="0" rtlCol="0" anchor="t"/>
          <a:lstStyle/>
          <a:p>
            <a:pPr algn="l" indent="0" marL="0">
              <a:buNone/>
            </a:pPr>
            <a:r>
              <a:rPr lang="en-US" sz="1100" dirty="0">
                <a:solidFill>
                  <a:schemeClr val="tx2"/>
                </a:solidFill>
              </a:rPr>
              <a:t>Book pose · the boundary sits exactly on the crease</a:t>
            </a:r>
            <a:endParaRPr lang="en-US" sz="1100" dirty="0"/>
          </a:p>
        </p:txBody>
      </p:sp>
      <p:sp>
        <p:nvSpPr>
          <p:cNvPr id="13" name="Text 9"/>
          <p:cNvSpPr txBox="1"/>
          <p:nvPr/>
        </p:nvSpPr>
        <p:spPr>
          <a:xfrm>
            <a:off x="6675120" y="5897880"/>
            <a:ext cx="2834640" cy="365760"/>
          </a:xfrm>
          <a:prstGeom prst="rect">
            <a:avLst/>
          </a:prstGeom>
          <a:noFill/>
          <a:ln/>
        </p:spPr>
        <p:txBody>
          <a:bodyPr wrap="square" lIns="0" tIns="0" rIns="0" bIns="0" rtlCol="0" anchor="t"/>
          <a:lstStyle/>
          <a:p>
            <a:pPr algn="l" indent="0" marL="0">
              <a:buNone/>
            </a:pPr>
            <a:r>
              <a:rPr lang="en-US" sz="1100" dirty="0">
                <a:solidFill>
                  <a:schemeClr val="tx2"/>
                </a:solidFill>
              </a:rPr>
              <a:t>Cover · a wrong move</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GAME 4 · SWIFT SPRINT · HIG DISPLACEMENT</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layout, moved and never redesigned, in every pose</a:t>
            </a:r>
            <a:endParaRPr lang="en-US" sz="3200" dirty="0"/>
          </a:p>
        </p:txBody>
      </p:sp>
      <p:pic>
        <p:nvPicPr>
          <p:cNvPr id="4" name="Image 0" descr="Swift Sprint flat: code and answers side by side">    </p:cNvPr>
          <p:cNvPicPr>
            <a:picLocks noChangeAspect="1"/>
          </p:cNvPicPr>
          <p:nvPr/>
        </p:nvPicPr>
        <p:blipFill>
          <a:blip r:embed="rId1"/>
          <a:stretch>
            <a:fillRect/>
          </a:stretch>
        </p:blipFill>
        <p:spPr>
          <a:xfrm>
            <a:off x="841248" y="2450592"/>
            <a:ext cx="3566160" cy="2505456"/>
          </a:xfrm>
          <a:prstGeom prst="rect">
            <a:avLst/>
          </a:prstGeom>
          <a:effectLst>
            <a:outerShdw sx="100000" sy="100000" kx="0" ky="0" algn="bl" rotWithShape="0" blurRad="228600" dist="76200" dir="5400000">
              <a:srgbClr val="000000">
                <a:alpha val="55000"/>
              </a:srgbClr>
            </a:outerShdw>
          </a:effectLst>
        </p:spPr>
      </p:pic>
      <p:pic>
        <p:nvPicPr>
          <p:cNvPr id="5" name="Image 1" descr="Swift Sprint in book pose: code on the left page, answers on the right">    </p:cNvPr>
          <p:cNvPicPr>
            <a:picLocks noChangeAspect="1"/>
          </p:cNvPicPr>
          <p:nvPr/>
        </p:nvPicPr>
        <p:blipFill>
          <a:blip r:embed="rId2"/>
          <a:stretch>
            <a:fillRect/>
          </a:stretch>
        </p:blipFill>
        <p:spPr>
          <a:xfrm>
            <a:off x="4681728" y="2450592"/>
            <a:ext cx="3566160" cy="2505456"/>
          </a:xfrm>
          <a:prstGeom prst="rect">
            <a:avLst/>
          </a:prstGeom>
          <a:effectLst>
            <a:outerShdw sx="100000" sy="100000" kx="0" ky="0" algn="bl" rotWithShape="0" blurRad="228600" dist="76200" dir="5400000">
              <a:srgbClr val="000000">
                <a:alpha val="55000"/>
              </a:srgbClr>
            </a:outerShdw>
          </a:effectLst>
        </p:spPr>
      </p:pic>
      <p:pic>
        <p:nvPicPr>
          <p:cNvPr id="6" name="Image 2" descr="Swift Sprint in laptop pose: code on the raised half, answers on the resting half">    </p:cNvPr>
          <p:cNvPicPr>
            <a:picLocks noChangeAspect="1"/>
          </p:cNvPicPr>
          <p:nvPr/>
        </p:nvPicPr>
        <p:blipFill>
          <a:blip r:embed="rId3"/>
          <a:stretch>
            <a:fillRect/>
          </a:stretch>
        </p:blipFill>
        <p:spPr>
          <a:xfrm>
            <a:off x="8522208" y="1691640"/>
            <a:ext cx="2825496" cy="4023360"/>
          </a:xfrm>
          <a:prstGeom prst="rect">
            <a:avLst/>
          </a:prstGeom>
          <a:effectLst>
            <a:outerShdw sx="100000" sy="100000" kx="0" ky="0" algn="bl" rotWithShape="0" blurRad="228600" dist="76200" dir="5400000">
              <a:srgbClr val="000000">
                <a:alpha val="55000"/>
              </a:srgbClr>
            </a:outerShdw>
          </a:effectLst>
        </p:spPr>
      </p:pic>
      <p:sp>
        <p:nvSpPr>
          <p:cNvPr id="7" name="Text 2"/>
          <p:cNvSpPr txBox="1"/>
          <p:nvPr/>
        </p:nvSpPr>
        <p:spPr>
          <a:xfrm>
            <a:off x="841248" y="5806440"/>
            <a:ext cx="3566160" cy="365760"/>
          </a:xfrm>
          <a:prstGeom prst="rect">
            <a:avLst/>
          </a:prstGeom>
          <a:noFill/>
          <a:ln/>
        </p:spPr>
        <p:txBody>
          <a:bodyPr wrap="square" lIns="0" tIns="0" rIns="0" bIns="0" rtlCol="0" anchor="t"/>
          <a:lstStyle/>
          <a:p>
            <a:pPr algn="ctr" indent="0" marL="0">
              <a:buNone/>
            </a:pPr>
            <a:r>
              <a:rPr lang="en-US" sz="1100" dirty="0">
                <a:solidFill>
                  <a:schemeClr val="tx2"/>
                </a:solidFill>
              </a:rPr>
              <a:t>Flat · side by side</a:t>
            </a:r>
            <a:endParaRPr lang="en-US" sz="1100" dirty="0"/>
          </a:p>
        </p:txBody>
      </p:sp>
      <p:sp>
        <p:nvSpPr>
          <p:cNvPr id="8" name="Text 3"/>
          <p:cNvSpPr txBox="1"/>
          <p:nvPr/>
        </p:nvSpPr>
        <p:spPr>
          <a:xfrm>
            <a:off x="4681728" y="5806440"/>
            <a:ext cx="3566160" cy="365760"/>
          </a:xfrm>
          <a:prstGeom prst="rect">
            <a:avLst/>
          </a:prstGeom>
          <a:noFill/>
          <a:ln/>
        </p:spPr>
        <p:txBody>
          <a:bodyPr wrap="square" lIns="0" tIns="0" rIns="0" bIns="0" rtlCol="0" anchor="t"/>
          <a:lstStyle/>
          <a:p>
            <a:pPr algn="ctr" indent="0" marL="0">
              <a:buNone/>
            </a:pPr>
            <a:r>
              <a:rPr lang="en-US" sz="1100" dirty="0">
                <a:solidFill>
                  <a:schemeClr val="tx2"/>
                </a:solidFill>
              </a:rPr>
              <a:t>Book · split on a vertical crease</a:t>
            </a:r>
            <a:endParaRPr lang="en-US" sz="1100" dirty="0"/>
          </a:p>
        </p:txBody>
      </p:sp>
      <p:sp>
        <p:nvSpPr>
          <p:cNvPr id="9" name="Text 4"/>
          <p:cNvSpPr txBox="1"/>
          <p:nvPr/>
        </p:nvSpPr>
        <p:spPr>
          <a:xfrm>
            <a:off x="8522208" y="5806440"/>
            <a:ext cx="2825496" cy="365760"/>
          </a:xfrm>
          <a:prstGeom prst="rect">
            <a:avLst/>
          </a:prstGeom>
          <a:noFill/>
          <a:ln/>
        </p:spPr>
        <p:txBody>
          <a:bodyPr wrap="square" lIns="0" tIns="0" rIns="0" bIns="0" rtlCol="0" anchor="t"/>
          <a:lstStyle/>
          <a:p>
            <a:pPr algn="ctr" indent="0" marL="0">
              <a:buNone/>
            </a:pPr>
            <a:r>
              <a:rPr lang="en-US" sz="1100" dirty="0">
                <a:solidFill>
                  <a:schemeClr val="tx2"/>
                </a:solidFill>
              </a:rPr>
              <a:t>Laptop · answers on the resting half</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4"/>
                </a:solidFill>
              </a:rPr>
              <a:t>APPLE INTELLIGENCE · ON DEVICE</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 private AI coach that knows what you got wrong</a:t>
            </a:r>
            <a:endParaRPr lang="en-US" sz="3200" dirty="0"/>
          </a:p>
        </p:txBody>
      </p:sp>
      <p:sp>
        <p:nvSpPr>
          <p:cNvPr id="4" name="flow-0"/>
          <p:cNvSpPr/>
          <p:nvPr/>
        </p:nvSpPr>
        <p:spPr>
          <a:xfrm>
            <a:off x="548640" y="1691640"/>
            <a:ext cx="1691640" cy="1051560"/>
          </a:xfrm>
          <a:prstGeom prst="roundRect">
            <a:avLst>
              <a:gd name="adj" fmla="val 13913"/>
            </a:avLst>
          </a:prstGeom>
          <a:solidFill>
            <a:schemeClr val="bg2"/>
          </a:solidFill>
          <a:ln w="9525">
            <a:solidFill>
              <a:srgbClr val="2A2A35"/>
            </a:solidFill>
          </a:ln>
        </p:spPr>
        <p:txBody>
          <a:bodyPr wrap="square" lIns="1016" tIns="1016" rIns="1016" bIns="1016" rtlCol="0" anchor="ctr"/>
          <a:lstStyle/>
          <a:p>
            <a:pPr algn="ctr" indent="0" marL="0">
              <a:buNone/>
            </a:pPr>
            <a:r>
              <a:rPr lang="en-US" sz="1300" b="1" dirty="0">
                <a:solidFill>
                  <a:schemeClr val="tx1"/>
                </a:solidFill>
              </a:rPr>
              <a:t>Your question or your mistakes</a:t>
            </a:r>
            <a:endParaRPr lang="en-US" sz="1300" dirty="0"/>
          </a:p>
        </p:txBody>
      </p:sp>
      <p:sp>
        <p:nvSpPr>
          <p:cNvPr id="5" name="arrow-0"/>
          <p:cNvSpPr/>
          <p:nvPr/>
        </p:nvSpPr>
        <p:spPr>
          <a:xfrm>
            <a:off x="2267712" y="2103120"/>
            <a:ext cx="201168" cy="228600"/>
          </a:xfrm>
          <a:prstGeom prst="rightArrow">
            <a:avLst/>
          </a:prstGeom>
          <a:solidFill>
            <a:schemeClr val="tx2"/>
          </a:solidFill>
          <a:ln/>
        </p:spPr>
      </p:sp>
      <p:sp>
        <p:nvSpPr>
          <p:cNvPr id="6" name="flow-1"/>
          <p:cNvSpPr/>
          <p:nvPr/>
        </p:nvSpPr>
        <p:spPr>
          <a:xfrm>
            <a:off x="2496312" y="1691640"/>
            <a:ext cx="1691640" cy="1051560"/>
          </a:xfrm>
          <a:prstGeom prst="roundRect">
            <a:avLst>
              <a:gd name="adj" fmla="val 13913"/>
            </a:avLst>
          </a:prstGeom>
          <a:solidFill>
            <a:schemeClr val="bg2"/>
          </a:solidFill>
          <a:ln w="9525">
            <a:solidFill>
              <a:srgbClr val="2A2A35"/>
            </a:solidFill>
          </a:ln>
        </p:spPr>
        <p:txBody>
          <a:bodyPr wrap="square" lIns="1016" tIns="1016" rIns="1016" bIns="1016" rtlCol="0" anchor="ctr"/>
          <a:lstStyle/>
          <a:p>
            <a:pPr algn="ctr" indent="0" marL="0">
              <a:buNone/>
            </a:pPr>
            <a:r>
              <a:rPr lang="en-US" sz="1300" b="1" dirty="0">
                <a:solidFill>
                  <a:schemeClr val="tx1"/>
                </a:solidFill>
              </a:rPr>
              <a:t>Retrieve the closest curriculum notes</a:t>
            </a:r>
            <a:endParaRPr lang="en-US" sz="1300" dirty="0"/>
          </a:p>
        </p:txBody>
      </p:sp>
      <p:sp>
        <p:nvSpPr>
          <p:cNvPr id="7" name="arrow-1"/>
          <p:cNvSpPr/>
          <p:nvPr/>
        </p:nvSpPr>
        <p:spPr>
          <a:xfrm>
            <a:off x="4215384" y="2103120"/>
            <a:ext cx="201168" cy="228600"/>
          </a:xfrm>
          <a:prstGeom prst="rightArrow">
            <a:avLst/>
          </a:prstGeom>
          <a:solidFill>
            <a:schemeClr val="tx2"/>
          </a:solidFill>
          <a:ln/>
        </p:spPr>
      </p:sp>
      <p:pic>
        <p:nvPicPr>
          <p:cNvPr id="8" name="Image 0" descr="Apple Intelligence gradient">    </p:cNvPr>
          <p:cNvPicPr>
            <a:picLocks noChangeAspect="1"/>
          </p:cNvPicPr>
          <p:nvPr/>
        </p:nvPicPr>
        <p:blipFill>
          <a:blip r:embed="rId1"/>
          <a:srcRect l="0" r="0" t="0" b="0"/>
          <a:stretch/>
        </p:blipFill>
        <p:spPr>
          <a:xfrm>
            <a:off x="4443984" y="1691640"/>
            <a:ext cx="1691640" cy="1051560"/>
          </a:xfrm>
          <a:prstGeom prst="rect">
            <a:avLst/>
          </a:prstGeom>
        </p:spPr>
      </p:pic>
      <p:sp>
        <p:nvSpPr>
          <p:cNvPr id="9" name="Text 6"/>
          <p:cNvSpPr txBox="1"/>
          <p:nvPr/>
        </p:nvSpPr>
        <p:spPr>
          <a:xfrm>
            <a:off x="4443984" y="1691640"/>
            <a:ext cx="1691640" cy="1051560"/>
          </a:xfrm>
          <a:prstGeom prst="rect">
            <a:avLst/>
          </a:prstGeom>
          <a:noFill/>
          <a:ln/>
        </p:spPr>
        <p:txBody>
          <a:bodyPr wrap="square" lIns="1016" tIns="1016" rIns="1016" bIns="1016" rtlCol="0" anchor="ctr"/>
          <a:lstStyle/>
          <a:p>
            <a:pPr algn="ctr" indent="0" marL="0">
              <a:buNone/>
            </a:pPr>
            <a:r>
              <a:rPr lang="en-US" sz="1300" b="1" dirty="0">
                <a:solidFill>
                  <a:srgbClr val="FFFFFF"/>
                </a:solidFill>
              </a:rPr>
              <a:t>FoundationModels, on device</a:t>
            </a:r>
            <a:endParaRPr lang="en-US" sz="1300" dirty="0"/>
          </a:p>
        </p:txBody>
      </p:sp>
      <p:sp>
        <p:nvSpPr>
          <p:cNvPr id="10" name="arrow-2"/>
          <p:cNvSpPr/>
          <p:nvPr/>
        </p:nvSpPr>
        <p:spPr>
          <a:xfrm>
            <a:off x="6163056" y="2103120"/>
            <a:ext cx="201168" cy="228600"/>
          </a:xfrm>
          <a:prstGeom prst="rightArrow">
            <a:avLst/>
          </a:prstGeom>
          <a:solidFill>
            <a:schemeClr val="tx2"/>
          </a:solidFill>
          <a:ln/>
        </p:spPr>
      </p:sp>
      <p:sp>
        <p:nvSpPr>
          <p:cNvPr id="11" name="flow-3"/>
          <p:cNvSpPr/>
          <p:nvPr/>
        </p:nvSpPr>
        <p:spPr>
          <a:xfrm>
            <a:off x="6391656" y="1691640"/>
            <a:ext cx="1691640" cy="1051560"/>
          </a:xfrm>
          <a:prstGeom prst="roundRect">
            <a:avLst>
              <a:gd name="adj" fmla="val 13913"/>
            </a:avLst>
          </a:prstGeom>
          <a:solidFill>
            <a:schemeClr val="bg2"/>
          </a:solidFill>
          <a:ln w="9525">
            <a:solidFill>
              <a:srgbClr val="2A2A35"/>
            </a:solidFill>
          </a:ln>
        </p:spPr>
        <p:txBody>
          <a:bodyPr wrap="square" lIns="1016" tIns="1016" rIns="1016" bIns="1016" rtlCol="0" anchor="ctr"/>
          <a:lstStyle/>
          <a:p>
            <a:pPr algn="ctr" indent="0" marL="0">
              <a:buNone/>
            </a:pPr>
            <a:r>
              <a:rPr lang="en-US" sz="1300" b="1" dirty="0">
                <a:solidFill>
                  <a:schemeClr val="tx1"/>
                </a:solidFill>
              </a:rPr>
              <a:t>Streamed answer and debrief</a:t>
            </a:r>
            <a:endParaRPr lang="en-US" sz="1300" dirty="0"/>
          </a:p>
        </p:txBody>
      </p:sp>
      <p:sp>
        <p:nvSpPr>
          <p:cNvPr id="12" name="badge-IoLibraryOutline"/>
          <p:cNvSpPr/>
          <p:nvPr/>
        </p:nvSpPr>
        <p:spPr>
          <a:xfrm>
            <a:off x="548640" y="3127248"/>
            <a:ext cx="512064" cy="512064"/>
          </a:xfrm>
          <a:prstGeom prst="ellipse">
            <a:avLst/>
          </a:prstGeom>
          <a:solidFill>
            <a:schemeClr val="accent4">
              <a:alpha val="22000"/>
            </a:schemeClr>
          </a:solidFill>
          <a:ln/>
        </p:spPr>
      </p:sp>
      <p:pic>
        <p:nvPicPr>
          <p:cNvPr id="13" name="Image 1" descr="LibraryOutline icon">    </p:cNvPr>
          <p:cNvPicPr>
            <a:picLocks noChangeAspect="1"/>
          </p:cNvPicPr>
          <p:nvPr/>
        </p:nvPicPr>
        <p:blipFill>
          <a:blip r:embed="rId2"/>
          <a:stretch>
            <a:fillRect/>
          </a:stretch>
        </p:blipFill>
        <p:spPr>
          <a:xfrm>
            <a:off x="661294" y="3239902"/>
            <a:ext cx="286756" cy="286756"/>
          </a:xfrm>
          <a:prstGeom prst="rect">
            <a:avLst/>
          </a:prstGeom>
        </p:spPr>
      </p:pic>
      <p:sp>
        <p:nvSpPr>
          <p:cNvPr id="14" name="Text 10"/>
          <p:cNvSpPr txBox="1"/>
          <p:nvPr/>
        </p:nvSpPr>
        <p:spPr>
          <a:xfrm>
            <a:off x="1261872" y="3108960"/>
            <a:ext cx="67848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Grounded in Unfold's curriculum</a:t>
            </a:r>
            <a:endParaRPr lang="en-US" sz="1600" dirty="0"/>
          </a:p>
          <a:p>
            <a:pPr indent="0" marL="0">
              <a:spcAft>
                <a:spcPts val="300"/>
              </a:spcAft>
              <a:buNone/>
            </a:pPr>
            <a:r>
              <a:rPr lang="en-US" sz="1300" dirty="0">
                <a:solidFill>
                  <a:schemeClr val="tx2"/>
                </a:solidFill>
              </a:rPr>
              <a:t>The on-device model can explain APIs newer than its training, like onHingeChange.</a:t>
            </a:r>
            <a:endParaRPr lang="en-US" sz="1600" dirty="0"/>
          </a:p>
        </p:txBody>
      </p:sp>
      <p:sp>
        <p:nvSpPr>
          <p:cNvPr id="15" name="badge-IoChatbubbleEllipsesOutline"/>
          <p:cNvSpPr/>
          <p:nvPr/>
        </p:nvSpPr>
        <p:spPr>
          <a:xfrm>
            <a:off x="548640" y="4041648"/>
            <a:ext cx="512064" cy="512064"/>
          </a:xfrm>
          <a:prstGeom prst="ellipse">
            <a:avLst/>
          </a:prstGeom>
          <a:solidFill>
            <a:schemeClr val="accent4">
              <a:alpha val="22000"/>
            </a:schemeClr>
          </a:solidFill>
          <a:ln/>
        </p:spPr>
      </p:sp>
      <p:pic>
        <p:nvPicPr>
          <p:cNvPr id="16" name="Image 2" descr="ChatbubbleEllipsesOutline icon">    </p:cNvPr>
          <p:cNvPicPr>
            <a:picLocks noChangeAspect="1"/>
          </p:cNvPicPr>
          <p:nvPr/>
        </p:nvPicPr>
        <p:blipFill>
          <a:blip r:embed="rId3"/>
          <a:stretch>
            <a:fillRect/>
          </a:stretch>
        </p:blipFill>
        <p:spPr>
          <a:xfrm>
            <a:off x="661294" y="4154302"/>
            <a:ext cx="286756" cy="286756"/>
          </a:xfrm>
          <a:prstGeom prst="rect">
            <a:avLst/>
          </a:prstGeom>
        </p:spPr>
      </p:pic>
      <p:sp>
        <p:nvSpPr>
          <p:cNvPr id="17" name="Text 12"/>
          <p:cNvSpPr txBox="1"/>
          <p:nvPr/>
        </p:nvSpPr>
        <p:spPr>
          <a:xfrm>
            <a:off x="1261872" y="4023360"/>
            <a:ext cx="67848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A debrief after every round</a:t>
            </a:r>
            <a:endParaRPr lang="en-US" sz="1600" dirty="0"/>
          </a:p>
          <a:p>
            <a:pPr indent="0" marL="0">
              <a:spcAft>
                <a:spcPts val="300"/>
              </a:spcAft>
              <a:buNone/>
            </a:pPr>
            <a:r>
              <a:rPr lang="en-US" sz="1300" dirty="0">
                <a:solidFill>
                  <a:schemeClr val="tx2"/>
                </a:solidFill>
              </a:rPr>
              <a:t>Three sentences written from your actual mistakes: praise, the idea to fix, one tip.</a:t>
            </a:r>
            <a:endParaRPr lang="en-US" sz="1600" dirty="0"/>
          </a:p>
        </p:txBody>
      </p:sp>
      <p:sp>
        <p:nvSpPr>
          <p:cNvPr id="18" name="badge-IoLockClosed"/>
          <p:cNvSpPr/>
          <p:nvPr/>
        </p:nvSpPr>
        <p:spPr>
          <a:xfrm>
            <a:off x="548640" y="4956048"/>
            <a:ext cx="512064" cy="512064"/>
          </a:xfrm>
          <a:prstGeom prst="ellipse">
            <a:avLst/>
          </a:prstGeom>
          <a:solidFill>
            <a:schemeClr val="accent4">
              <a:alpha val="22000"/>
            </a:schemeClr>
          </a:solidFill>
          <a:ln/>
        </p:spPr>
      </p:sp>
      <p:pic>
        <p:nvPicPr>
          <p:cNvPr id="19" name="Image 3" descr="LockClosed icon">    </p:cNvPr>
          <p:cNvPicPr>
            <a:picLocks noChangeAspect="1"/>
          </p:cNvPicPr>
          <p:nvPr/>
        </p:nvPicPr>
        <p:blipFill>
          <a:blip r:embed="rId4"/>
          <a:stretch>
            <a:fillRect/>
          </a:stretch>
        </p:blipFill>
        <p:spPr>
          <a:xfrm>
            <a:off x="661294" y="5068702"/>
            <a:ext cx="286756" cy="286756"/>
          </a:xfrm>
          <a:prstGeom prst="rect">
            <a:avLst/>
          </a:prstGeom>
        </p:spPr>
      </p:pic>
      <p:sp>
        <p:nvSpPr>
          <p:cNvPr id="20" name="Text 14"/>
          <p:cNvSpPr txBox="1"/>
          <p:nvPr/>
        </p:nvSpPr>
        <p:spPr>
          <a:xfrm>
            <a:off x="1261872" y="4937760"/>
            <a:ext cx="67848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Private and resilient</a:t>
            </a:r>
            <a:endParaRPr lang="en-US" sz="1600" dirty="0"/>
          </a:p>
          <a:p>
            <a:pPr indent="0" marL="0">
              <a:spcAft>
                <a:spcPts val="300"/>
              </a:spcAft>
              <a:buNone/>
            </a:pPr>
            <a:r>
              <a:rPr lang="en-US" sz="1300" dirty="0">
                <a:solidFill>
                  <a:schemeClr val="tx2"/>
                </a:solidFill>
              </a:rPr>
              <a:t>Nothing leaves the iPhone. Without Apple Intelligence, Coach answers offline from the same notes.</a:t>
            </a:r>
            <a:endParaRPr lang="en-US" sz="1600" dirty="0"/>
          </a:p>
        </p:txBody>
      </p:sp>
      <p:pic>
        <p:nvPicPr>
          <p:cNvPr id="21" name="Image 4" descr="Coach answering with the real onHingeChange API">    </p:cNvPr>
          <p:cNvPicPr>
            <a:picLocks noChangeAspect="1"/>
          </p:cNvPicPr>
          <p:nvPr/>
        </p:nvPicPr>
        <p:blipFill>
          <a:blip r:embed="rId5"/>
          <a:stretch>
            <a:fillRect/>
          </a:stretch>
        </p:blipFill>
        <p:spPr>
          <a:xfrm>
            <a:off x="8467344" y="1600200"/>
            <a:ext cx="3172968" cy="4617720"/>
          </a:xfrm>
          <a:prstGeom prst="rect">
            <a:avLst/>
          </a:prstGeom>
          <a:effectLst>
            <a:outerShdw sx="100000" sy="100000" kx="0" ky="0" algn="bl" rotWithShape="0" blurRad="228600" dist="76200" dir="5400000">
              <a:srgbClr val="000000">
                <a:alpha val="55000"/>
              </a:srgbClr>
            </a:outerShdw>
          </a:effectLst>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DESIGN RESEARCH · LIQUID GLASS</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Liquid Glass only where Apple says it belongs</a:t>
            </a:r>
            <a:endParaRPr lang="en-US" sz="3200" dirty="0"/>
          </a:p>
        </p:txBody>
      </p:sp>
      <p:sp>
        <p:nvSpPr>
          <p:cNvPr id="4" name="quote-card"/>
          <p:cNvSpPr/>
          <p:nvPr/>
        </p:nvSpPr>
        <p:spPr>
          <a:xfrm>
            <a:off x="548640" y="1691640"/>
            <a:ext cx="8229600" cy="1188720"/>
          </a:xfrm>
          <a:prstGeom prst="roundRect">
            <a:avLst>
              <a:gd name="adj" fmla="val 13846"/>
            </a:avLst>
          </a:prstGeom>
          <a:solidFill>
            <a:schemeClr val="bg2"/>
          </a:solidFill>
          <a:ln w="9525">
            <a:solidFill>
              <a:srgbClr val="2A2A35"/>
            </a:solidFill>
            <a:prstDash val="solid"/>
          </a:ln>
        </p:spPr>
      </p:sp>
      <p:sp>
        <p:nvSpPr>
          <p:cNvPr id="5" name="Text 3"/>
          <p:cNvSpPr txBox="1"/>
          <p:nvPr/>
        </p:nvSpPr>
        <p:spPr>
          <a:xfrm>
            <a:off x="868680" y="1810512"/>
            <a:ext cx="7680960" cy="960120"/>
          </a:xfrm>
          <a:prstGeom prst="rect">
            <a:avLst/>
          </a:prstGeom>
          <a:noFill/>
          <a:ln/>
        </p:spPr>
        <p:txBody>
          <a:bodyPr wrap="square" lIns="0" tIns="0" rIns="0" bIns="0" rtlCol="0" anchor="ctr"/>
          <a:lstStyle/>
          <a:p>
            <a:pPr indent="0" marL="0">
              <a:spcAft>
                <a:spcPts val="400"/>
              </a:spcAft>
              <a:buNone/>
            </a:pPr>
            <a:r>
              <a:rPr lang="en-US" sz="2000" i="1" dirty="0">
                <a:solidFill>
                  <a:schemeClr val="tx1"/>
                </a:solidFill>
              </a:rPr>
              <a:t>“A distinct functional layer for controls and navigation elements.”</a:t>
            </a:r>
            <a:endParaRPr lang="en-US" sz="2000" dirty="0"/>
          </a:p>
          <a:p>
            <a:pPr indent="0" marL="0">
              <a:spcAft>
                <a:spcPts val="400"/>
              </a:spcAft>
              <a:buNone/>
            </a:pPr>
            <a:r>
              <a:rPr lang="en-US" sz="1200" dirty="0">
                <a:solidFill>
                  <a:schemeClr val="tx2"/>
                </a:solidFill>
              </a:rPr>
              <a:t>Apple, Adopting Liquid Glass</a:t>
            </a:r>
            <a:endParaRPr lang="en-US" sz="2000" dirty="0"/>
          </a:p>
        </p:txBody>
      </p:sp>
      <p:sp>
        <p:nvSpPr>
          <p:cNvPr id="6" name="glass-yes"/>
          <p:cNvSpPr/>
          <p:nvPr/>
        </p:nvSpPr>
        <p:spPr>
          <a:xfrm>
            <a:off x="548640" y="3108960"/>
            <a:ext cx="3977640" cy="3063240"/>
          </a:xfrm>
          <a:prstGeom prst="roundRect">
            <a:avLst>
              <a:gd name="adj" fmla="val 5373"/>
            </a:avLst>
          </a:prstGeom>
          <a:solidFill>
            <a:schemeClr val="bg2"/>
          </a:solidFill>
          <a:ln w="9525">
            <a:solidFill>
              <a:srgbClr val="2A2A35"/>
            </a:solidFill>
            <a:prstDash val="solid"/>
          </a:ln>
        </p:spPr>
      </p:sp>
      <p:sp>
        <p:nvSpPr>
          <p:cNvPr id="7" name="glass-no"/>
          <p:cNvSpPr/>
          <p:nvPr/>
        </p:nvSpPr>
        <p:spPr>
          <a:xfrm>
            <a:off x="4800600" y="3108960"/>
            <a:ext cx="3977640" cy="3063240"/>
          </a:xfrm>
          <a:prstGeom prst="roundRect">
            <a:avLst>
              <a:gd name="adj" fmla="val 5373"/>
            </a:avLst>
          </a:prstGeom>
          <a:solidFill>
            <a:schemeClr val="bg2"/>
          </a:solidFill>
          <a:ln w="9525">
            <a:solidFill>
              <a:srgbClr val="2A2A35"/>
            </a:solidFill>
            <a:prstDash val="solid"/>
          </a:ln>
        </p:spPr>
      </p:sp>
      <p:sp>
        <p:nvSpPr>
          <p:cNvPr id="8" name="badge-IoCheckmarkCircle"/>
          <p:cNvSpPr/>
          <p:nvPr/>
        </p:nvSpPr>
        <p:spPr>
          <a:xfrm>
            <a:off x="822960" y="3337560"/>
            <a:ext cx="512064" cy="512064"/>
          </a:xfrm>
          <a:prstGeom prst="ellipse">
            <a:avLst/>
          </a:prstGeom>
          <a:solidFill>
            <a:schemeClr val="accent5">
              <a:alpha val="22000"/>
            </a:schemeClr>
          </a:solidFill>
          <a:ln/>
        </p:spPr>
      </p:sp>
      <p:pic>
        <p:nvPicPr>
          <p:cNvPr id="9" name="Image 0" descr="CheckmarkCircle icon">    </p:cNvPr>
          <p:cNvPicPr>
            <a:picLocks noChangeAspect="1"/>
          </p:cNvPicPr>
          <p:nvPr/>
        </p:nvPicPr>
        <p:blipFill>
          <a:blip r:embed="rId1"/>
          <a:stretch>
            <a:fillRect/>
          </a:stretch>
        </p:blipFill>
        <p:spPr>
          <a:xfrm>
            <a:off x="935614" y="3450214"/>
            <a:ext cx="286756" cy="286756"/>
          </a:xfrm>
          <a:prstGeom prst="rect">
            <a:avLst/>
          </a:prstGeom>
        </p:spPr>
      </p:pic>
      <p:sp>
        <p:nvSpPr>
          <p:cNvPr id="10" name="Text 7"/>
          <p:cNvSpPr txBox="1"/>
          <p:nvPr/>
        </p:nvSpPr>
        <p:spPr>
          <a:xfrm>
            <a:off x="1463040" y="3383280"/>
            <a:ext cx="2743200" cy="411480"/>
          </a:xfrm>
          <a:prstGeom prst="rect">
            <a:avLst/>
          </a:prstGeom>
          <a:noFill/>
          <a:ln/>
        </p:spPr>
        <p:txBody>
          <a:bodyPr wrap="square" lIns="0" tIns="0" rIns="0" bIns="0" rtlCol="0" anchor="ctr"/>
          <a:lstStyle/>
          <a:p>
            <a:pPr indent="0" marL="0">
              <a:buNone/>
            </a:pPr>
            <a:r>
              <a:rPr lang="en-US" sz="1800" b="1" dirty="0">
                <a:solidFill>
                  <a:schemeClr val="tx1"/>
                </a:solidFill>
              </a:rPr>
              <a:t>Glass on</a:t>
            </a:r>
            <a:endParaRPr lang="en-US" sz="1800" dirty="0"/>
          </a:p>
        </p:txBody>
      </p:sp>
      <p:sp>
        <p:nvSpPr>
          <p:cNvPr id="11" name="Text 8"/>
          <p:cNvSpPr txBox="1"/>
          <p:nvPr/>
        </p:nvSpPr>
        <p:spPr>
          <a:xfrm>
            <a:off x="822960" y="3977640"/>
            <a:ext cx="352044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Tab bar, which iOS moves to the right edge of the cover display</a:t>
            </a:r>
            <a:endParaRPr lang="en-US" sz="1300" dirty="0"/>
          </a:p>
          <a:p>
            <a:pPr marL="342900" indent="-342900">
              <a:spcAft>
                <a:spcPts val="600"/>
              </a:spcAft>
              <a:buSzPct val="100000"/>
              <a:buChar char="•"/>
            </a:pPr>
            <a:r>
              <a:rPr lang="en-US" sz="1300" dirty="0">
                <a:solidFill>
                  <a:schemeClr val="tx2"/>
                </a:solidFill>
              </a:rPr>
              <a:t>Game HUD in a GlassEffectContainer</a:t>
            </a:r>
            <a:endParaRPr lang="en-US" sz="1300" dirty="0"/>
          </a:p>
          <a:p>
            <a:pPr marL="342900" indent="-342900">
              <a:spcAft>
                <a:spcPts val="600"/>
              </a:spcAft>
              <a:buSzPct val="100000"/>
              <a:buChar char="•"/>
            </a:pPr>
            <a:r>
              <a:rPr lang="en-US" sz="1300" dirty="0">
                <a:solidFill>
                  <a:schemeClr val="tx2"/>
                </a:solidFill>
              </a:rPr>
              <a:t>Coach composer and the presenter hinge</a:t>
            </a:r>
            <a:endParaRPr lang="en-US" sz="1300" dirty="0"/>
          </a:p>
          <a:p>
            <a:pPr marL="342900" indent="-342900">
              <a:spcAft>
                <a:spcPts val="600"/>
              </a:spcAft>
              <a:buSzPct val="100000"/>
              <a:buChar char="•"/>
            </a:pPr>
            <a:r>
              <a:rPr lang="en-US" sz="1300" dirty="0">
                <a:solidFill>
                  <a:schemeClr val="tx2"/>
                </a:solidFill>
              </a:rPr>
              <a:t>.glass and .glassProminent buttons</a:t>
            </a:r>
            <a:endParaRPr lang="en-US" sz="1300" dirty="0"/>
          </a:p>
        </p:txBody>
      </p:sp>
      <p:sp>
        <p:nvSpPr>
          <p:cNvPr id="12" name="badge-IoCloseCircle"/>
          <p:cNvSpPr/>
          <p:nvPr/>
        </p:nvSpPr>
        <p:spPr>
          <a:xfrm>
            <a:off x="5074920" y="3337560"/>
            <a:ext cx="512064" cy="512064"/>
          </a:xfrm>
          <a:prstGeom prst="ellipse">
            <a:avLst/>
          </a:prstGeom>
          <a:solidFill>
            <a:schemeClr val="accent2">
              <a:alpha val="22000"/>
            </a:schemeClr>
          </a:solidFill>
          <a:ln/>
        </p:spPr>
      </p:sp>
      <p:pic>
        <p:nvPicPr>
          <p:cNvPr id="13" name="Image 1" descr="CloseCircle icon">    </p:cNvPr>
          <p:cNvPicPr>
            <a:picLocks noChangeAspect="1"/>
          </p:cNvPicPr>
          <p:nvPr/>
        </p:nvPicPr>
        <p:blipFill>
          <a:blip r:embed="rId2"/>
          <a:stretch>
            <a:fillRect/>
          </a:stretch>
        </p:blipFill>
        <p:spPr>
          <a:xfrm>
            <a:off x="5187574" y="3450214"/>
            <a:ext cx="286756" cy="286756"/>
          </a:xfrm>
          <a:prstGeom prst="rect">
            <a:avLst/>
          </a:prstGeom>
        </p:spPr>
      </p:pic>
      <p:sp>
        <p:nvSpPr>
          <p:cNvPr id="14" name="Text 10"/>
          <p:cNvSpPr txBox="1"/>
          <p:nvPr/>
        </p:nvSpPr>
        <p:spPr>
          <a:xfrm>
            <a:off x="5715000" y="3383280"/>
            <a:ext cx="2743200" cy="411480"/>
          </a:xfrm>
          <a:prstGeom prst="rect">
            <a:avLst/>
          </a:prstGeom>
          <a:noFill/>
          <a:ln/>
        </p:spPr>
        <p:txBody>
          <a:bodyPr wrap="square" lIns="0" tIns="0" rIns="0" bIns="0" rtlCol="0" anchor="ctr"/>
          <a:lstStyle/>
          <a:p>
            <a:pPr indent="0" marL="0">
              <a:buNone/>
            </a:pPr>
            <a:r>
              <a:rPr lang="en-US" sz="1800" b="1" dirty="0">
                <a:solidFill>
                  <a:schemeClr val="tx1"/>
                </a:solidFill>
              </a:rPr>
              <a:t>Never</a:t>
            </a:r>
            <a:endParaRPr lang="en-US" sz="1800" dirty="0"/>
          </a:p>
        </p:txBody>
      </p:sp>
      <p:sp>
        <p:nvSpPr>
          <p:cNvPr id="15" name="Text 11"/>
          <p:cNvSpPr txBox="1"/>
          <p:nvPr/>
        </p:nvSpPr>
        <p:spPr>
          <a:xfrm>
            <a:off x="5074920" y="3977640"/>
            <a:ext cx="352044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On content cards: content stays solid</a:t>
            </a:r>
            <a:endParaRPr lang="en-US" sz="1300" dirty="0"/>
          </a:p>
          <a:p>
            <a:pPr marL="342900" indent="-342900">
              <a:spcAft>
                <a:spcPts val="600"/>
              </a:spcAft>
              <a:buSzPct val="100000"/>
              <a:buChar char="•"/>
            </a:pPr>
            <a:r>
              <a:rPr lang="en-US" sz="1300" dirty="0">
                <a:solidFill>
                  <a:schemeClr val="tx2"/>
                </a:solidFill>
              </a:rPr>
              <a:t>Glass on glass</a:t>
            </a:r>
            <a:endParaRPr lang="en-US" sz="1300" dirty="0"/>
          </a:p>
          <a:p>
            <a:pPr marL="342900" indent="-342900">
              <a:spcAft>
                <a:spcPts val="600"/>
              </a:spcAft>
              <a:buSzPct val="100000"/>
              <a:buChar char="•"/>
            </a:pPr>
            <a:r>
              <a:rPr lang="en-US" sz="1300" dirty="0">
                <a:solidFill>
                  <a:schemeClr val="tx2"/>
                </a:solidFill>
              </a:rPr>
              <a:t>Custom backgrounds behind system bars</a:t>
            </a:r>
            <a:endParaRPr lang="en-US" sz="1300" dirty="0"/>
          </a:p>
          <a:p>
            <a:pPr marL="342900" indent="-342900">
              <a:spcAft>
                <a:spcPts val="600"/>
              </a:spcAft>
              <a:buSzPct val="100000"/>
              <a:buChar char="•"/>
            </a:pPr>
            <a:r>
              <a:rPr lang="en-US" sz="1300" dirty="0">
                <a:solidFill>
                  <a:schemeClr val="tx2"/>
                </a:solidFill>
              </a:rPr>
              <a:t>Effects that ignore Reduce Motion</a:t>
            </a:r>
            <a:endParaRPr lang="en-US" sz="1300" dirty="0"/>
          </a:p>
        </p:txBody>
      </p:sp>
      <p:pic>
        <p:nvPicPr>
          <p:cNvPr id="16" name="Image 2" descr="iPhone 18 Pro Max: the glass composer and tab bar floating over content">    </p:cNvPr>
          <p:cNvPicPr>
            <a:picLocks noChangeAspect="1"/>
          </p:cNvPicPr>
          <p:nvPr/>
        </p:nvPicPr>
        <p:blipFill>
          <a:blip r:embed="rId3"/>
          <a:stretch>
            <a:fillRect/>
          </a:stretch>
        </p:blipFill>
        <p:spPr>
          <a:xfrm>
            <a:off x="9372600" y="1600200"/>
            <a:ext cx="2121408" cy="4617720"/>
          </a:xfrm>
          <a:prstGeom prst="rect">
            <a:avLst/>
          </a:prstGeom>
          <a:effectLst>
            <a:outerShdw sx="100000" sy="100000" kx="0" ky="0" algn="bl" rotWithShape="0" blurRad="228600" dist="76200" dir="5400000">
              <a:srgbClr val="000000">
                <a:alpha val="55000"/>
              </a:srgbClr>
            </a:outerShdw>
          </a:effectLst>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DESIGN RESEARCH · COLOUR PSYCHOLOGY</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Every colour in Unfold means exactly one thing</a:t>
            </a:r>
            <a:endParaRPr lang="en-US" sz="3200" dirty="0"/>
          </a:p>
        </p:txBody>
      </p:sp>
      <p:sp>
        <p:nvSpPr>
          <p:cNvPr id="4" name="swatch-0"/>
          <p:cNvSpPr/>
          <p:nvPr/>
        </p:nvSpPr>
        <p:spPr>
          <a:xfrm>
            <a:off x="548640" y="1691640"/>
            <a:ext cx="2286000" cy="1298448"/>
          </a:xfrm>
          <a:prstGeom prst="roundRect">
            <a:avLst>
              <a:gd name="adj" fmla="val 12676"/>
            </a:avLst>
          </a:prstGeom>
          <a:solidFill>
            <a:schemeClr val="bg2"/>
          </a:solidFill>
          <a:ln w="9525">
            <a:solidFill>
              <a:srgbClr val="2A2A35"/>
            </a:solidFill>
            <a:prstDash val="solid"/>
          </a:ln>
        </p:spPr>
      </p:sp>
      <p:sp>
        <p:nvSpPr>
          <p:cNvPr id="5" name="dot-0"/>
          <p:cNvSpPr/>
          <p:nvPr/>
        </p:nvSpPr>
        <p:spPr>
          <a:xfrm>
            <a:off x="777240" y="1947672"/>
            <a:ext cx="457200" cy="457200"/>
          </a:xfrm>
          <a:prstGeom prst="ellipse">
            <a:avLst/>
          </a:prstGeom>
          <a:solidFill>
            <a:schemeClr val="accent1"/>
          </a:solidFill>
          <a:ln/>
        </p:spPr>
      </p:sp>
      <p:sp>
        <p:nvSpPr>
          <p:cNvPr id="6" name="Text 4"/>
          <p:cNvSpPr txBox="1"/>
          <p:nvPr/>
        </p:nvSpPr>
        <p:spPr>
          <a:xfrm>
            <a:off x="1371600" y="1892808"/>
            <a:ext cx="13716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Blue</a:t>
            </a:r>
            <a:endParaRPr lang="en-US" sz="1500" dirty="0"/>
          </a:p>
          <a:p>
            <a:pPr indent="0" marL="0">
              <a:spcAft>
                <a:spcPts val="200"/>
              </a:spcAft>
              <a:buNone/>
            </a:pPr>
            <a:r>
              <a:rPr lang="en-US" sz="1200" dirty="0">
                <a:solidFill>
                  <a:schemeClr val="tx2"/>
                </a:solidFill>
              </a:rPr>
              <a:t>Only things you can tap</a:t>
            </a:r>
            <a:endParaRPr lang="en-US" sz="1500" dirty="0"/>
          </a:p>
        </p:txBody>
      </p:sp>
      <p:sp>
        <p:nvSpPr>
          <p:cNvPr id="7" name="swatch-1"/>
          <p:cNvSpPr/>
          <p:nvPr/>
        </p:nvSpPr>
        <p:spPr>
          <a:xfrm>
            <a:off x="3063240" y="1691640"/>
            <a:ext cx="2286000" cy="1298448"/>
          </a:xfrm>
          <a:prstGeom prst="roundRect">
            <a:avLst>
              <a:gd name="adj" fmla="val 12676"/>
            </a:avLst>
          </a:prstGeom>
          <a:solidFill>
            <a:schemeClr val="bg2"/>
          </a:solidFill>
          <a:ln w="9525">
            <a:solidFill>
              <a:srgbClr val="2A2A35"/>
            </a:solidFill>
            <a:prstDash val="solid"/>
          </a:ln>
        </p:spPr>
      </p:sp>
      <p:sp>
        <p:nvSpPr>
          <p:cNvPr id="8" name="dot-1"/>
          <p:cNvSpPr/>
          <p:nvPr/>
        </p:nvSpPr>
        <p:spPr>
          <a:xfrm>
            <a:off x="3291840" y="1947672"/>
            <a:ext cx="457200" cy="457200"/>
          </a:xfrm>
          <a:prstGeom prst="ellipse">
            <a:avLst/>
          </a:prstGeom>
          <a:solidFill>
            <a:schemeClr val="accent2"/>
          </a:solidFill>
          <a:ln/>
        </p:spPr>
      </p:sp>
      <p:sp>
        <p:nvSpPr>
          <p:cNvPr id="9" name="Text 7"/>
          <p:cNvSpPr txBox="1"/>
          <p:nvPr/>
        </p:nvSpPr>
        <p:spPr>
          <a:xfrm>
            <a:off x="3886200" y="1892808"/>
            <a:ext cx="13716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Orange</a:t>
            </a:r>
            <a:endParaRPr lang="en-US" sz="1500" dirty="0"/>
          </a:p>
          <a:p>
            <a:pPr indent="0" marL="0">
              <a:spcAft>
                <a:spcPts val="200"/>
              </a:spcAft>
              <a:buNone/>
            </a:pPr>
            <a:r>
              <a:rPr lang="en-US" sz="1200" dirty="0">
                <a:solidFill>
                  <a:schemeClr val="tx2"/>
                </a:solidFill>
              </a:rPr>
              <a:t>The Swift world: momentum</a:t>
            </a:r>
            <a:endParaRPr lang="en-US" sz="1500" dirty="0"/>
          </a:p>
        </p:txBody>
      </p:sp>
      <p:sp>
        <p:nvSpPr>
          <p:cNvPr id="10" name="swatch-2"/>
          <p:cNvSpPr/>
          <p:nvPr/>
        </p:nvSpPr>
        <p:spPr>
          <a:xfrm>
            <a:off x="5577840" y="1691640"/>
            <a:ext cx="2286000" cy="1298448"/>
          </a:xfrm>
          <a:prstGeom prst="roundRect">
            <a:avLst>
              <a:gd name="adj" fmla="val 12676"/>
            </a:avLst>
          </a:prstGeom>
          <a:solidFill>
            <a:schemeClr val="bg2"/>
          </a:solidFill>
          <a:ln w="9525">
            <a:solidFill>
              <a:srgbClr val="2A2A35"/>
            </a:solidFill>
            <a:prstDash val="solid"/>
          </a:ln>
        </p:spPr>
      </p:sp>
      <p:sp>
        <p:nvSpPr>
          <p:cNvPr id="11" name="dot-2"/>
          <p:cNvSpPr/>
          <p:nvPr/>
        </p:nvSpPr>
        <p:spPr>
          <a:xfrm>
            <a:off x="5806440" y="1947672"/>
            <a:ext cx="457200" cy="457200"/>
          </a:xfrm>
          <a:prstGeom prst="ellipse">
            <a:avLst/>
          </a:prstGeom>
          <a:solidFill>
            <a:schemeClr val="accent3"/>
          </a:solidFill>
          <a:ln/>
        </p:spPr>
      </p:sp>
      <p:sp>
        <p:nvSpPr>
          <p:cNvPr id="12" name="Text 10"/>
          <p:cNvSpPr txBox="1"/>
          <p:nvPr/>
        </p:nvSpPr>
        <p:spPr>
          <a:xfrm>
            <a:off x="6400800" y="1892808"/>
            <a:ext cx="13716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Cyan</a:t>
            </a:r>
            <a:endParaRPr lang="en-US" sz="1500" dirty="0"/>
          </a:p>
          <a:p>
            <a:pPr indent="0" marL="0">
              <a:spcAft>
                <a:spcPts val="200"/>
              </a:spcAft>
              <a:buNone/>
            </a:pPr>
            <a:r>
              <a:rPr lang="en-US" sz="1200" dirty="0">
                <a:solidFill>
                  <a:schemeClr val="tx2"/>
                </a:solidFill>
              </a:rPr>
              <a:t>Frameworks: calm building</a:t>
            </a:r>
            <a:endParaRPr lang="en-US" sz="1500" dirty="0"/>
          </a:p>
        </p:txBody>
      </p:sp>
      <p:sp>
        <p:nvSpPr>
          <p:cNvPr id="13" name="swatch-3"/>
          <p:cNvSpPr/>
          <p:nvPr/>
        </p:nvSpPr>
        <p:spPr>
          <a:xfrm>
            <a:off x="548640" y="3154680"/>
            <a:ext cx="2286000" cy="1298448"/>
          </a:xfrm>
          <a:prstGeom prst="roundRect">
            <a:avLst>
              <a:gd name="adj" fmla="val 12676"/>
            </a:avLst>
          </a:prstGeom>
          <a:solidFill>
            <a:schemeClr val="bg2"/>
          </a:solidFill>
          <a:ln w="9525">
            <a:solidFill>
              <a:srgbClr val="2A2A35"/>
            </a:solidFill>
            <a:prstDash val="solid"/>
          </a:ln>
        </p:spPr>
      </p:sp>
      <p:sp>
        <p:nvSpPr>
          <p:cNvPr id="14" name="dot-3"/>
          <p:cNvSpPr/>
          <p:nvPr/>
        </p:nvSpPr>
        <p:spPr>
          <a:xfrm>
            <a:off x="777240" y="3410712"/>
            <a:ext cx="457200" cy="457200"/>
          </a:xfrm>
          <a:prstGeom prst="ellipse">
            <a:avLst/>
          </a:prstGeom>
          <a:solidFill>
            <a:schemeClr val="accent4"/>
          </a:solidFill>
          <a:ln/>
        </p:spPr>
      </p:sp>
      <p:sp>
        <p:nvSpPr>
          <p:cNvPr id="15" name="Text 13"/>
          <p:cNvSpPr txBox="1"/>
          <p:nvPr/>
        </p:nvSpPr>
        <p:spPr>
          <a:xfrm>
            <a:off x="1371600" y="3355848"/>
            <a:ext cx="13716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Purple</a:t>
            </a:r>
            <a:endParaRPr lang="en-US" sz="1500" dirty="0"/>
          </a:p>
          <a:p>
            <a:pPr indent="0" marL="0">
              <a:spcAft>
                <a:spcPts val="200"/>
              </a:spcAft>
              <a:buNone/>
            </a:pPr>
            <a:r>
              <a:rPr lang="en-US" sz="1200" dirty="0">
                <a:solidFill>
                  <a:schemeClr val="tx2"/>
                </a:solidFill>
              </a:rPr>
              <a:t>Ecosystem: heritage</a:t>
            </a:r>
            <a:endParaRPr lang="en-US" sz="1500" dirty="0"/>
          </a:p>
        </p:txBody>
      </p:sp>
      <p:sp>
        <p:nvSpPr>
          <p:cNvPr id="16" name="swatch-4"/>
          <p:cNvSpPr/>
          <p:nvPr/>
        </p:nvSpPr>
        <p:spPr>
          <a:xfrm>
            <a:off x="3063240" y="3154680"/>
            <a:ext cx="2286000" cy="1298448"/>
          </a:xfrm>
          <a:prstGeom prst="roundRect">
            <a:avLst>
              <a:gd name="adj" fmla="val 12676"/>
            </a:avLst>
          </a:prstGeom>
          <a:solidFill>
            <a:schemeClr val="bg2"/>
          </a:solidFill>
          <a:ln w="9525">
            <a:solidFill>
              <a:srgbClr val="2A2A35"/>
            </a:solidFill>
            <a:prstDash val="solid"/>
          </a:ln>
        </p:spPr>
      </p:sp>
      <p:sp>
        <p:nvSpPr>
          <p:cNvPr id="17" name="dot-4"/>
          <p:cNvSpPr/>
          <p:nvPr/>
        </p:nvSpPr>
        <p:spPr>
          <a:xfrm>
            <a:off x="3291840" y="3410712"/>
            <a:ext cx="457200" cy="457200"/>
          </a:xfrm>
          <a:prstGeom prst="ellipse">
            <a:avLst/>
          </a:prstGeom>
          <a:solidFill>
            <a:schemeClr val="accent5"/>
          </a:solidFill>
          <a:ln/>
        </p:spPr>
      </p:sp>
      <p:sp>
        <p:nvSpPr>
          <p:cNvPr id="18" name="Text 16"/>
          <p:cNvSpPr txBox="1"/>
          <p:nvPr/>
        </p:nvSpPr>
        <p:spPr>
          <a:xfrm>
            <a:off x="3886200" y="3355848"/>
            <a:ext cx="13716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Green + ✓</a:t>
            </a:r>
            <a:endParaRPr lang="en-US" sz="1500" dirty="0"/>
          </a:p>
          <a:p>
            <a:pPr indent="0" marL="0">
              <a:spcAft>
                <a:spcPts val="200"/>
              </a:spcAft>
              <a:buNone/>
            </a:pPr>
            <a:r>
              <a:rPr lang="en-US" sz="1200" dirty="0">
                <a:solidFill>
                  <a:schemeClr val="tx2"/>
                </a:solidFill>
              </a:rPr>
              <a:t>Correct</a:t>
            </a:r>
            <a:endParaRPr lang="en-US" sz="1500" dirty="0"/>
          </a:p>
        </p:txBody>
      </p:sp>
      <p:sp>
        <p:nvSpPr>
          <p:cNvPr id="19" name="swatch-5"/>
          <p:cNvSpPr/>
          <p:nvPr/>
        </p:nvSpPr>
        <p:spPr>
          <a:xfrm>
            <a:off x="5577840" y="3154680"/>
            <a:ext cx="2286000" cy="1298448"/>
          </a:xfrm>
          <a:prstGeom prst="roundRect">
            <a:avLst>
              <a:gd name="adj" fmla="val 12676"/>
            </a:avLst>
          </a:prstGeom>
          <a:solidFill>
            <a:schemeClr val="bg2"/>
          </a:solidFill>
          <a:ln w="9525">
            <a:solidFill>
              <a:srgbClr val="2A2A35"/>
            </a:solidFill>
            <a:prstDash val="solid"/>
          </a:ln>
        </p:spPr>
      </p:sp>
      <p:sp>
        <p:nvSpPr>
          <p:cNvPr id="20" name="dot-5"/>
          <p:cNvSpPr/>
          <p:nvPr/>
        </p:nvSpPr>
        <p:spPr>
          <a:xfrm>
            <a:off x="5806440" y="3410712"/>
            <a:ext cx="457200" cy="457200"/>
          </a:xfrm>
          <a:prstGeom prst="ellipse">
            <a:avLst/>
          </a:prstGeom>
          <a:solidFill>
            <a:srgbClr val="FF4A4A"/>
          </a:solidFill>
          <a:ln/>
        </p:spPr>
      </p:sp>
      <p:sp>
        <p:nvSpPr>
          <p:cNvPr id="21" name="Text 19"/>
          <p:cNvSpPr txBox="1"/>
          <p:nvPr/>
        </p:nvSpPr>
        <p:spPr>
          <a:xfrm>
            <a:off x="6400800" y="3355848"/>
            <a:ext cx="13716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Red + ✕</a:t>
            </a:r>
            <a:endParaRPr lang="en-US" sz="1500" dirty="0"/>
          </a:p>
          <a:p>
            <a:pPr indent="0" marL="0">
              <a:spcAft>
                <a:spcPts val="200"/>
              </a:spcAft>
              <a:buNone/>
            </a:pPr>
            <a:r>
              <a:rPr lang="en-US" sz="1200" dirty="0">
                <a:solidFill>
                  <a:schemeClr val="tx2"/>
                </a:solidFill>
              </a:rPr>
              <a:t>Wrong, for a moment only</a:t>
            </a:r>
            <a:endParaRPr lang="en-US" sz="1500" dirty="0"/>
          </a:p>
        </p:txBody>
      </p:sp>
      <p:sp>
        <p:nvSpPr>
          <p:cNvPr id="22" name="swatch-ai"/>
          <p:cNvSpPr/>
          <p:nvPr/>
        </p:nvSpPr>
        <p:spPr>
          <a:xfrm>
            <a:off x="548640" y="4663440"/>
            <a:ext cx="7315200" cy="914400"/>
          </a:xfrm>
          <a:prstGeom prst="roundRect">
            <a:avLst>
              <a:gd name="adj" fmla="val 18000"/>
            </a:avLst>
          </a:prstGeom>
          <a:solidFill>
            <a:schemeClr val="bg2"/>
          </a:solidFill>
          <a:ln w="9525">
            <a:solidFill>
              <a:srgbClr val="2A2A35"/>
            </a:solidFill>
            <a:prstDash val="solid"/>
          </a:ln>
        </p:spPr>
      </p:sp>
      <p:pic>
        <p:nvPicPr>
          <p:cNvPr id="23" name="Image 0" descr="Apple Intelligence gradient swatch">    </p:cNvPr>
          <p:cNvPicPr>
            <a:picLocks noChangeAspect="1"/>
          </p:cNvPicPr>
          <p:nvPr/>
        </p:nvPicPr>
        <p:blipFill>
          <a:blip r:embed="rId1"/>
          <a:stretch>
            <a:fillRect/>
          </a:stretch>
        </p:blipFill>
        <p:spPr>
          <a:xfrm>
            <a:off x="777240" y="4919472"/>
            <a:ext cx="2011680" cy="411480"/>
          </a:xfrm>
          <a:prstGeom prst="rect">
            <a:avLst/>
          </a:prstGeom>
        </p:spPr>
      </p:pic>
      <p:sp>
        <p:nvSpPr>
          <p:cNvPr id="24" name="Text 21"/>
          <p:cNvSpPr txBox="1"/>
          <p:nvPr/>
        </p:nvSpPr>
        <p:spPr>
          <a:xfrm>
            <a:off x="3017520" y="4754880"/>
            <a:ext cx="4754880" cy="731520"/>
          </a:xfrm>
          <a:prstGeom prst="rect">
            <a:avLst/>
          </a:prstGeom>
          <a:noFill/>
          <a:ln/>
        </p:spPr>
        <p:txBody>
          <a:bodyPr wrap="square" lIns="0" tIns="0" rIns="0" bIns="0" rtlCol="0" anchor="ctr"/>
          <a:lstStyle/>
          <a:p>
            <a:pPr indent="0" marL="0">
              <a:buNone/>
            </a:pPr>
            <a:r>
              <a:rPr lang="en-US" sz="1500" b="1" dirty="0">
                <a:solidFill>
                  <a:schemeClr val="tx1"/>
                </a:solidFill>
              </a:rPr>
              <a:t>Intelligence gradient  </a:t>
            </a:r>
            <a:pPr indent="0" marL="0">
              <a:buNone/>
            </a:pPr>
            <a:r>
              <a:rPr lang="en-US" sz="1300" dirty="0">
                <a:solidFill>
                  <a:schemeClr val="tx2"/>
                </a:solidFill>
              </a:rPr>
              <a:t>only when Apple Intelligence is speaking</a:t>
            </a:r>
            <a:endParaRPr lang="en-US" sz="1500" dirty="0"/>
          </a:p>
        </p:txBody>
      </p:sp>
      <p:sp>
        <p:nvSpPr>
          <p:cNvPr id="25" name="Text 22"/>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chemeClr val="tx2"/>
                </a:solidFill>
              </a:rPr>
              <a:t>Every colour is paired with a symbol, so colour is never the only signal.</a:t>
            </a:r>
            <a:endParaRPr lang="en-US" sz="1300" dirty="0"/>
          </a:p>
        </p:txBody>
      </p:sp>
      <p:sp>
        <p:nvSpPr>
          <p:cNvPr id="26" name="research-card"/>
          <p:cNvSpPr/>
          <p:nvPr/>
        </p:nvSpPr>
        <p:spPr>
          <a:xfrm>
            <a:off x="8183880" y="1691640"/>
            <a:ext cx="3456432" cy="4434840"/>
          </a:xfrm>
          <a:prstGeom prst="roundRect">
            <a:avLst>
              <a:gd name="adj" fmla="val 4762"/>
            </a:avLst>
          </a:prstGeom>
          <a:solidFill>
            <a:schemeClr val="bg2"/>
          </a:solidFill>
          <a:ln w="9525">
            <a:solidFill>
              <a:srgbClr val="2A2A35"/>
            </a:solidFill>
            <a:prstDash val="solid"/>
          </a:ln>
        </p:spPr>
      </p:sp>
      <p:sp>
        <p:nvSpPr>
          <p:cNvPr id="27" name="badge-IoFlaskOutline"/>
          <p:cNvSpPr/>
          <p:nvPr/>
        </p:nvSpPr>
        <p:spPr>
          <a:xfrm>
            <a:off x="8412480" y="1920240"/>
            <a:ext cx="512064" cy="512064"/>
          </a:xfrm>
          <a:prstGeom prst="ellipse">
            <a:avLst/>
          </a:prstGeom>
          <a:solidFill>
            <a:schemeClr val="accent6">
              <a:alpha val="22000"/>
            </a:schemeClr>
          </a:solidFill>
          <a:ln/>
        </p:spPr>
      </p:sp>
      <p:pic>
        <p:nvPicPr>
          <p:cNvPr id="28" name="Image 1" descr="FlaskOutline icon">    </p:cNvPr>
          <p:cNvPicPr>
            <a:picLocks noChangeAspect="1"/>
          </p:cNvPicPr>
          <p:nvPr/>
        </p:nvPicPr>
        <p:blipFill>
          <a:blip r:embed="rId2"/>
          <a:stretch>
            <a:fillRect/>
          </a:stretch>
        </p:blipFill>
        <p:spPr>
          <a:xfrm>
            <a:off x="8525134" y="2032894"/>
            <a:ext cx="286756" cy="286756"/>
          </a:xfrm>
          <a:prstGeom prst="rect">
            <a:avLst/>
          </a:prstGeom>
        </p:spPr>
      </p:pic>
      <p:sp>
        <p:nvSpPr>
          <p:cNvPr id="29" name="Text 25"/>
          <p:cNvSpPr txBox="1"/>
          <p:nvPr/>
        </p:nvSpPr>
        <p:spPr>
          <a:xfrm>
            <a:off x="9052560" y="1965960"/>
            <a:ext cx="2514600" cy="457200"/>
          </a:xfrm>
          <a:prstGeom prst="rect">
            <a:avLst/>
          </a:prstGeom>
          <a:noFill/>
          <a:ln/>
        </p:spPr>
        <p:txBody>
          <a:bodyPr wrap="square" lIns="0" tIns="0" rIns="0" bIns="0" rtlCol="0" anchor="ctr"/>
          <a:lstStyle/>
          <a:p>
            <a:pPr indent="0" marL="0">
              <a:buNone/>
            </a:pPr>
            <a:r>
              <a:rPr lang="en-US" sz="1600" b="1" dirty="0">
                <a:solidFill>
                  <a:schemeClr val="tx1"/>
                </a:solidFill>
              </a:rPr>
              <a:t>What the research says</a:t>
            </a:r>
            <a:endParaRPr lang="en-US" sz="1600" dirty="0"/>
          </a:p>
        </p:txBody>
      </p:sp>
      <p:sp>
        <p:nvSpPr>
          <p:cNvPr id="30" name="Text 26"/>
          <p:cNvSpPr txBox="1"/>
          <p:nvPr/>
        </p:nvSpPr>
        <p:spPr>
          <a:xfrm>
            <a:off x="8412480" y="2651760"/>
            <a:ext cx="3063240" cy="3291840"/>
          </a:xfrm>
          <a:prstGeom prst="rect">
            <a:avLst/>
          </a:prstGeom>
          <a:noFill/>
          <a:ln/>
        </p:spPr>
        <p:txBody>
          <a:bodyPr wrap="square" lIns="0" tIns="0" rIns="0" bIns="0" rtlCol="0" anchor="t"/>
          <a:lstStyle/>
          <a:p>
            <a:pPr indent="0" marL="0">
              <a:buNone/>
            </a:pPr>
            <a:r>
              <a:rPr lang="en-US" sz="1300" dirty="0">
                <a:solidFill>
                  <a:schemeClr val="tx1"/>
                </a:solidFill>
              </a:rPr>
              <a:t>Red primes avoidance; blue primes approach.</a:t>
            </a:r>
            <a:endParaRPr lang="en-US" sz="1300" dirty="0"/>
          </a:p>
          <a:p>
            <a:pPr indent="0" marL="0">
              <a:buNone/>
            </a:pPr>
            <a:r>
              <a:rPr lang="en-US" sz="1100" dirty="0">
                <a:solidFill>
                  <a:schemeClr val="tx2"/>
                </a:solidFill>
              </a:rPr>
              <a:t>Mehta &amp; Zhu, Science, 2009</a:t>
            </a:r>
            <a:endParaRPr lang="en-US" sz="1300" dirty="0"/>
          </a:p>
          <a:p>
            <a:pPr indent="0" marL="0">
              <a:buNone/>
            </a:pPr>
            <a:r>
              <a:rPr lang="en-US" sz="600" dirty="0">
                <a:solidFill>
                  <a:srgbClr val="000000"/>
                </a:solidFill>
              </a:rPr>
              <a:t> </a:t>
            </a:r>
            <a:endParaRPr lang="en-US" sz="1300" dirty="0"/>
          </a:p>
          <a:p>
            <a:pPr indent="0" marL="0">
              <a:buNone/>
            </a:pPr>
            <a:r>
              <a:rPr lang="en-US" sz="1300" dirty="0">
                <a:solidFill>
                  <a:schemeClr val="tx1"/>
                </a:solidFill>
              </a:rPr>
              <a:t>Brief red before a test lowered scores.</a:t>
            </a:r>
            <a:endParaRPr lang="en-US" sz="1300" dirty="0"/>
          </a:p>
          <a:p>
            <a:pPr indent="0" marL="0">
              <a:buNone/>
            </a:pPr>
            <a:r>
              <a:rPr lang="en-US" sz="1100" dirty="0">
                <a:solidFill>
                  <a:schemeClr val="tx2"/>
                </a:solidFill>
              </a:rPr>
              <a:t>Elliot et al., J. Exp. Psych.: General, 2007</a:t>
            </a:r>
            <a:endParaRPr lang="en-US" sz="1300" dirty="0"/>
          </a:p>
          <a:p>
            <a:pPr indent="0" marL="0">
              <a:buNone/>
            </a:pPr>
            <a:r>
              <a:rPr lang="en-US" sz="600" dirty="0">
                <a:solidFill>
                  <a:srgbClr val="000000"/>
                </a:solidFill>
              </a:rPr>
              <a:t> </a:t>
            </a:r>
            <a:endParaRPr lang="en-US" sz="1300" dirty="0"/>
          </a:p>
          <a:p>
            <a:pPr indent="0" marL="0">
              <a:buNone/>
            </a:pPr>
            <a:r>
              <a:rPr lang="en-US" sz="1300" dirty="0">
                <a:solidFill>
                  <a:schemeClr val="accent6"/>
                </a:solidFill>
              </a:rPr>
              <a:t>So red only flashes, then the explanation takes over. Dark-only, like Apple Fitness: P3 colour reads best on OLED black.</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5"/>
                </a:solidFill>
              </a:rPr>
              <a:t>LEARNING DESIGN</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Built on how people actually learn</a:t>
            </a:r>
            <a:endParaRPr lang="en-US" sz="3200" dirty="0"/>
          </a:p>
        </p:txBody>
      </p:sp>
      <p:sp>
        <p:nvSpPr>
          <p:cNvPr id="4" name="badge-IoHelpCircleOutline"/>
          <p:cNvSpPr/>
          <p:nvPr/>
        </p:nvSpPr>
        <p:spPr>
          <a:xfrm>
            <a:off x="548640" y="1801368"/>
            <a:ext cx="512064" cy="512064"/>
          </a:xfrm>
          <a:prstGeom prst="ellipse">
            <a:avLst/>
          </a:prstGeom>
          <a:solidFill>
            <a:schemeClr val="accent5">
              <a:alpha val="22000"/>
            </a:schemeClr>
          </a:solidFill>
          <a:ln/>
        </p:spPr>
      </p:sp>
      <p:pic>
        <p:nvPicPr>
          <p:cNvPr id="5" name="Image 0" descr="HelpCircleOutline icon">    </p:cNvPr>
          <p:cNvPicPr>
            <a:picLocks noChangeAspect="1"/>
          </p:cNvPicPr>
          <p:nvPr/>
        </p:nvPicPr>
        <p:blipFill>
          <a:blip r:embed="rId1"/>
          <a:stretch>
            <a:fillRect/>
          </a:stretch>
        </p:blipFill>
        <p:spPr>
          <a:xfrm>
            <a:off x="661294" y="1914022"/>
            <a:ext cx="286756" cy="286756"/>
          </a:xfrm>
          <a:prstGeom prst="rect">
            <a:avLst/>
          </a:prstGeom>
        </p:spPr>
      </p:pic>
      <p:sp>
        <p:nvSpPr>
          <p:cNvPr id="6" name="Text 3"/>
          <p:cNvSpPr txBox="1"/>
          <p:nvPr/>
        </p:nvSpPr>
        <p:spPr>
          <a:xfrm>
            <a:off x="1261872" y="1783080"/>
            <a:ext cx="49560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Retrieval practice</a:t>
            </a:r>
            <a:endParaRPr lang="en-US" sz="1600" dirty="0"/>
          </a:p>
          <a:p>
            <a:pPr indent="0" marL="0">
              <a:spcAft>
                <a:spcPts val="300"/>
              </a:spcAft>
              <a:buNone/>
            </a:pPr>
            <a:r>
              <a:rPr lang="en-US" sz="1300" dirty="0">
                <a:solidFill>
                  <a:schemeClr val="tx2"/>
                </a:solidFill>
              </a:rPr>
              <a:t>Every game asks before it tells. Recalling builds memory faster than rereading.</a:t>
            </a:r>
            <a:endParaRPr lang="en-US" sz="1600" dirty="0"/>
          </a:p>
        </p:txBody>
      </p:sp>
      <p:sp>
        <p:nvSpPr>
          <p:cNvPr id="7" name="badge-IoFlashOutline"/>
          <p:cNvSpPr/>
          <p:nvPr/>
        </p:nvSpPr>
        <p:spPr>
          <a:xfrm>
            <a:off x="548640" y="2852928"/>
            <a:ext cx="512064" cy="512064"/>
          </a:xfrm>
          <a:prstGeom prst="ellipse">
            <a:avLst/>
          </a:prstGeom>
          <a:solidFill>
            <a:schemeClr val="accent6">
              <a:alpha val="22000"/>
            </a:schemeClr>
          </a:solidFill>
          <a:ln/>
        </p:spPr>
      </p:sp>
      <p:pic>
        <p:nvPicPr>
          <p:cNvPr id="8" name="Image 1" descr="FlashOutline icon">    </p:cNvPr>
          <p:cNvPicPr>
            <a:picLocks noChangeAspect="1"/>
          </p:cNvPicPr>
          <p:nvPr/>
        </p:nvPicPr>
        <p:blipFill>
          <a:blip r:embed="rId2"/>
          <a:stretch>
            <a:fillRect/>
          </a:stretch>
        </p:blipFill>
        <p:spPr>
          <a:xfrm>
            <a:off x="661294" y="2965582"/>
            <a:ext cx="286756" cy="286756"/>
          </a:xfrm>
          <a:prstGeom prst="rect">
            <a:avLst/>
          </a:prstGeom>
        </p:spPr>
      </p:pic>
      <p:sp>
        <p:nvSpPr>
          <p:cNvPr id="9" name="Text 5"/>
          <p:cNvSpPr txBox="1"/>
          <p:nvPr/>
        </p:nvSpPr>
        <p:spPr>
          <a:xfrm>
            <a:off x="1261872" y="2834640"/>
            <a:ext cx="49560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Immediate, specific feedback</a:t>
            </a:r>
            <a:endParaRPr lang="en-US" sz="1600" dirty="0"/>
          </a:p>
          <a:p>
            <a:pPr indent="0" marL="0">
              <a:spcAft>
                <a:spcPts val="300"/>
              </a:spcAft>
              <a:buNone/>
            </a:pPr>
            <a:r>
              <a:rPr lang="en-US" sz="1300" dirty="0">
                <a:solidFill>
                  <a:schemeClr val="tx2"/>
                </a:solidFill>
              </a:rPr>
              <a:t>Each mistake shows the right answer and why, the moment it happens.</a:t>
            </a:r>
            <a:endParaRPr lang="en-US" sz="1600" dirty="0"/>
          </a:p>
        </p:txBody>
      </p:sp>
      <p:sp>
        <p:nvSpPr>
          <p:cNvPr id="10" name="badge-IoRepeat"/>
          <p:cNvSpPr/>
          <p:nvPr/>
        </p:nvSpPr>
        <p:spPr>
          <a:xfrm>
            <a:off x="548640" y="3904488"/>
            <a:ext cx="512064" cy="512064"/>
          </a:xfrm>
          <a:prstGeom prst="ellipse">
            <a:avLst/>
          </a:prstGeom>
          <a:solidFill>
            <a:schemeClr val="accent3">
              <a:alpha val="22000"/>
            </a:schemeClr>
          </a:solidFill>
          <a:ln/>
        </p:spPr>
      </p:sp>
      <p:pic>
        <p:nvPicPr>
          <p:cNvPr id="11" name="Image 2" descr="Repeat icon">    </p:cNvPr>
          <p:cNvPicPr>
            <a:picLocks noChangeAspect="1"/>
          </p:cNvPicPr>
          <p:nvPr/>
        </p:nvPicPr>
        <p:blipFill>
          <a:blip r:embed="rId3"/>
          <a:stretch>
            <a:fillRect/>
          </a:stretch>
        </p:blipFill>
        <p:spPr>
          <a:xfrm>
            <a:off x="661294" y="4017142"/>
            <a:ext cx="286756" cy="286756"/>
          </a:xfrm>
          <a:prstGeom prst="rect">
            <a:avLst/>
          </a:prstGeom>
        </p:spPr>
      </p:pic>
      <p:sp>
        <p:nvSpPr>
          <p:cNvPr id="12" name="Text 7"/>
          <p:cNvSpPr txBox="1"/>
          <p:nvPr/>
        </p:nvSpPr>
        <p:spPr>
          <a:xfrm>
            <a:off x="1261872" y="3886200"/>
            <a:ext cx="49560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Spaced repetition</a:t>
            </a:r>
            <a:endParaRPr lang="en-US" sz="1600" dirty="0"/>
          </a:p>
          <a:p>
            <a:pPr indent="0" marL="0">
              <a:spcAft>
                <a:spcPts val="300"/>
              </a:spcAft>
              <a:buNone/>
            </a:pPr>
            <a:r>
              <a:rPr lang="en-US" sz="1300" dirty="0">
                <a:solidFill>
                  <a:schemeClr val="tx2"/>
                </a:solidFill>
              </a:rPr>
              <a:t>Leitner boxes bring back the flashcards you missed before the ones you know.</a:t>
            </a:r>
            <a:endParaRPr lang="en-US" sz="1600" dirty="0"/>
          </a:p>
        </p:txBody>
      </p:sp>
      <p:sp>
        <p:nvSpPr>
          <p:cNvPr id="13" name="badge-IoTrophyOutline"/>
          <p:cNvSpPr/>
          <p:nvPr/>
        </p:nvSpPr>
        <p:spPr>
          <a:xfrm>
            <a:off x="548640" y="4956048"/>
            <a:ext cx="512064" cy="512064"/>
          </a:xfrm>
          <a:prstGeom prst="ellipse">
            <a:avLst/>
          </a:prstGeom>
          <a:solidFill>
            <a:schemeClr val="accent2">
              <a:alpha val="22000"/>
            </a:schemeClr>
          </a:solidFill>
          <a:ln/>
        </p:spPr>
      </p:sp>
      <p:pic>
        <p:nvPicPr>
          <p:cNvPr id="14" name="Image 3" descr="TrophyOutline icon">    </p:cNvPr>
          <p:cNvPicPr>
            <a:picLocks noChangeAspect="1"/>
          </p:cNvPicPr>
          <p:nvPr/>
        </p:nvPicPr>
        <p:blipFill>
          <a:blip r:embed="rId4"/>
          <a:stretch>
            <a:fillRect/>
          </a:stretch>
        </p:blipFill>
        <p:spPr>
          <a:xfrm>
            <a:off x="661294" y="5068702"/>
            <a:ext cx="286756" cy="286756"/>
          </a:xfrm>
          <a:prstGeom prst="rect">
            <a:avLst/>
          </a:prstGeom>
        </p:spPr>
      </p:pic>
      <p:sp>
        <p:nvSpPr>
          <p:cNvPr id="15" name="Text 9"/>
          <p:cNvSpPr txBox="1"/>
          <p:nvPr/>
        </p:nvSpPr>
        <p:spPr>
          <a:xfrm>
            <a:off x="1261872" y="4937760"/>
            <a:ext cx="4956048" cy="86868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Mastery you can see</a:t>
            </a:r>
            <a:endParaRPr lang="en-US" sz="1600" dirty="0"/>
          </a:p>
          <a:p>
            <a:pPr indent="0" marL="0">
              <a:spcAft>
                <a:spcPts val="300"/>
              </a:spcAft>
              <a:buNone/>
            </a:pPr>
            <a:r>
              <a:rPr lang="en-US" sz="1300" dirty="0">
                <a:solidFill>
                  <a:schemeClr val="tx2"/>
                </a:solidFill>
              </a:rPr>
              <a:t>Activity-style rings track each world; streaks, XP and personal bests keep you coming back.</a:t>
            </a:r>
            <a:endParaRPr lang="en-US" sz="1600" dirty="0"/>
          </a:p>
        </p:txBody>
      </p:sp>
      <p:pic>
        <p:nvPicPr>
          <p:cNvPr id="16" name="Image 4" descr="Journey on the inner display: mastery rings, level, streak and personal bests">    </p:cNvPr>
          <p:cNvPicPr>
            <a:picLocks noChangeAspect="1"/>
          </p:cNvPicPr>
          <p:nvPr/>
        </p:nvPicPr>
        <p:blipFill>
          <a:blip r:embed="rId5"/>
          <a:stretch>
            <a:fillRect/>
          </a:stretch>
        </p:blipFill>
        <p:spPr>
          <a:xfrm>
            <a:off x="6537960" y="1828800"/>
            <a:ext cx="5102352" cy="3584448"/>
          </a:xfrm>
          <a:prstGeom prst="rect">
            <a:avLst/>
          </a:prstGeom>
          <a:effectLst>
            <a:outerShdw sx="100000" sy="100000" kx="0" ky="0" algn="bl" rotWithShape="0" blurRad="228600" dist="76200" dir="5400000">
              <a:srgbClr val="000000">
                <a:alpha val="55000"/>
              </a:srgbClr>
            </a:outerShdw>
          </a:effectLst>
        </p:spPr>
      </p:pic>
      <p:sp>
        <p:nvSpPr>
          <p:cNvPr id="17" name="Text 10"/>
          <p:cNvSpPr txBox="1"/>
          <p:nvPr/>
        </p:nvSpPr>
        <p:spPr>
          <a:xfrm>
            <a:off x="6537960" y="5532120"/>
            <a:ext cx="5102352" cy="365760"/>
          </a:xfrm>
          <a:prstGeom prst="rect">
            <a:avLst/>
          </a:prstGeom>
          <a:noFill/>
          <a:ln/>
        </p:spPr>
        <p:txBody>
          <a:bodyPr wrap="square" lIns="0" tIns="0" rIns="0" bIns="0" rtlCol="0" anchor="t"/>
          <a:lstStyle/>
          <a:p>
            <a:pPr algn="l" indent="0" marL="0">
              <a:buNone/>
            </a:pPr>
            <a:r>
              <a:rPr lang="en-US" sz="1100" dirty="0">
                <a:solidFill>
                  <a:schemeClr val="tx2"/>
                </a:solidFill>
              </a:rPr>
              <a:t>Journey · three mastery rings, one per world</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IPHONE DUO + IPHONE 18 PRO MAX</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codebase that adapts to every iPhone</a:t>
            </a:r>
            <a:endParaRPr lang="en-US" sz="3200" dirty="0"/>
          </a:p>
        </p:txBody>
      </p:sp>
      <p:pic>
        <p:nvPicPr>
          <p:cNvPr id="4" name="Image 0" descr="iPhone Duo cover display: game detail with the tab bar on the right edge">    </p:cNvPr>
          <p:cNvPicPr>
            <a:picLocks noChangeAspect="1"/>
          </p:cNvPicPr>
          <p:nvPr/>
        </p:nvPicPr>
        <p:blipFill>
          <a:blip r:embed="rId1"/>
          <a:stretch>
            <a:fillRect/>
          </a:stretch>
        </p:blipFill>
        <p:spPr>
          <a:xfrm>
            <a:off x="548640" y="1783080"/>
            <a:ext cx="2514600" cy="3657600"/>
          </a:xfrm>
          <a:prstGeom prst="rect">
            <a:avLst/>
          </a:prstGeom>
          <a:effectLst>
            <a:outerShdw sx="100000" sy="100000" kx="0" ky="0" algn="bl" rotWithShape="0" blurRad="228600" dist="76200" dir="5400000">
              <a:srgbClr val="000000">
                <a:alpha val="55000"/>
              </a:srgbClr>
            </a:outerShdw>
          </a:effectLst>
        </p:spPr>
      </p:pic>
      <p:pic>
        <p:nvPicPr>
          <p:cNvPr id="5" name="Image 1" descr="iPhone Duo inner display: Swift Sprint side by side">    </p:cNvPr>
          <p:cNvPicPr>
            <a:picLocks noChangeAspect="1"/>
          </p:cNvPicPr>
          <p:nvPr/>
        </p:nvPicPr>
        <p:blipFill>
          <a:blip r:embed="rId2"/>
          <a:stretch>
            <a:fillRect/>
          </a:stretch>
        </p:blipFill>
        <p:spPr>
          <a:xfrm>
            <a:off x="3337560" y="2194560"/>
            <a:ext cx="4023360" cy="2834640"/>
          </a:xfrm>
          <a:prstGeom prst="rect">
            <a:avLst/>
          </a:prstGeom>
          <a:effectLst>
            <a:outerShdw sx="100000" sy="100000" kx="0" ky="0" algn="bl" rotWithShape="0" blurRad="228600" dist="76200" dir="5400000">
              <a:srgbClr val="000000">
                <a:alpha val="55000"/>
              </a:srgbClr>
            </a:outerShdw>
          </a:effectLst>
        </p:spPr>
      </p:pic>
      <p:pic>
        <p:nvPicPr>
          <p:cNvPr id="6" name="Image 2" descr="iPhone 18 Pro Max: Arcade with the bottom tab bar">    </p:cNvPr>
          <p:cNvPicPr>
            <a:picLocks noChangeAspect="1"/>
          </p:cNvPicPr>
          <p:nvPr/>
        </p:nvPicPr>
        <p:blipFill>
          <a:blip r:embed="rId3"/>
          <a:stretch>
            <a:fillRect/>
          </a:stretch>
        </p:blipFill>
        <p:spPr>
          <a:xfrm>
            <a:off x="7635240" y="1783080"/>
            <a:ext cx="1682496" cy="3657600"/>
          </a:xfrm>
          <a:prstGeom prst="rect">
            <a:avLst/>
          </a:prstGeom>
          <a:effectLst>
            <a:outerShdw sx="100000" sy="100000" kx="0" ky="0" algn="bl" rotWithShape="0" blurRad="228600" dist="76200" dir="5400000">
              <a:srgbClr val="000000">
                <a:alpha val="55000"/>
              </a:srgbClr>
            </a:outerShdw>
          </a:effectLst>
        </p:spPr>
      </p:pic>
      <p:sp>
        <p:nvSpPr>
          <p:cNvPr id="7" name="Text 2"/>
          <p:cNvSpPr txBox="1"/>
          <p:nvPr/>
        </p:nvSpPr>
        <p:spPr>
          <a:xfrm>
            <a:off x="548640" y="5577840"/>
            <a:ext cx="2514600" cy="365760"/>
          </a:xfrm>
          <a:prstGeom prst="rect">
            <a:avLst/>
          </a:prstGeom>
          <a:noFill/>
          <a:ln/>
        </p:spPr>
        <p:txBody>
          <a:bodyPr wrap="square" lIns="0" tIns="0" rIns="0" bIns="0" rtlCol="0" anchor="t"/>
          <a:lstStyle/>
          <a:p>
            <a:pPr algn="ctr" indent="0" marL="0">
              <a:buNone/>
            </a:pPr>
            <a:r>
              <a:rPr lang="en-US" sz="1100" dirty="0">
                <a:solidFill>
                  <a:schemeClr val="tx2"/>
                </a:solidFill>
              </a:rPr>
              <a:t>Duo cover · 466 × 678 pt</a:t>
            </a:r>
            <a:endParaRPr lang="en-US" sz="1100" dirty="0"/>
          </a:p>
        </p:txBody>
      </p:sp>
      <p:sp>
        <p:nvSpPr>
          <p:cNvPr id="8" name="Text 3"/>
          <p:cNvSpPr txBox="1"/>
          <p:nvPr/>
        </p:nvSpPr>
        <p:spPr>
          <a:xfrm>
            <a:off x="3337560" y="5577840"/>
            <a:ext cx="4023360" cy="365760"/>
          </a:xfrm>
          <a:prstGeom prst="rect">
            <a:avLst/>
          </a:prstGeom>
          <a:noFill/>
          <a:ln/>
        </p:spPr>
        <p:txBody>
          <a:bodyPr wrap="square" lIns="0" tIns="0" rIns="0" bIns="0" rtlCol="0" anchor="t"/>
          <a:lstStyle/>
          <a:p>
            <a:pPr algn="ctr" indent="0" marL="0">
              <a:buNone/>
            </a:pPr>
            <a:r>
              <a:rPr lang="en-US" sz="1100" dirty="0">
                <a:solidFill>
                  <a:schemeClr val="tx2"/>
                </a:solidFill>
              </a:rPr>
              <a:t>Duo inner · 951 × 669 pt</a:t>
            </a:r>
            <a:endParaRPr lang="en-US" sz="1100" dirty="0"/>
          </a:p>
        </p:txBody>
      </p:sp>
      <p:sp>
        <p:nvSpPr>
          <p:cNvPr id="9" name="Text 4"/>
          <p:cNvSpPr txBox="1"/>
          <p:nvPr/>
        </p:nvSpPr>
        <p:spPr>
          <a:xfrm>
            <a:off x="7315200" y="5577840"/>
            <a:ext cx="2331720" cy="365760"/>
          </a:xfrm>
          <a:prstGeom prst="rect">
            <a:avLst/>
          </a:prstGeom>
          <a:noFill/>
          <a:ln/>
        </p:spPr>
        <p:txBody>
          <a:bodyPr wrap="square" lIns="0" tIns="0" rIns="0" bIns="0" rtlCol="0" anchor="t"/>
          <a:lstStyle/>
          <a:p>
            <a:pPr algn="ctr" indent="0" marL="0">
              <a:buNone/>
            </a:pPr>
            <a:r>
              <a:rPr lang="en-US" sz="1100" dirty="0">
                <a:solidFill>
                  <a:schemeClr val="tx2"/>
                </a:solidFill>
              </a:rPr>
              <a:t>18 Pro Max · 440 × 956 pt</a:t>
            </a:r>
            <a:endParaRPr lang="en-US" sz="1100" dirty="0"/>
          </a:p>
        </p:txBody>
      </p:sp>
      <p:sp>
        <p:nvSpPr>
          <p:cNvPr id="10" name="tech-0"/>
          <p:cNvSpPr/>
          <p:nvPr/>
        </p:nvSpPr>
        <p:spPr>
          <a:xfrm>
            <a:off x="9646920" y="1783080"/>
            <a:ext cx="1993392" cy="420624"/>
          </a:xfrm>
          <a:prstGeom prst="roundRect">
            <a:avLst>
              <a:gd name="adj" fmla="val 43478"/>
            </a:avLst>
          </a:prstGeom>
          <a:solidFill>
            <a:schemeClr val="bg2"/>
          </a:solidFill>
          <a:ln w="9525">
            <a:solidFill>
              <a:srgbClr val="2A2A35"/>
            </a:solidFill>
          </a:ln>
        </p:spPr>
        <p:txBody>
          <a:bodyPr wrap="square" lIns="508" tIns="508" rIns="508" bIns="508" rtlCol="0" anchor="ctr"/>
          <a:lstStyle/>
          <a:p>
            <a:pPr algn="ctr" indent="0" marL="0">
              <a:buNone/>
            </a:pPr>
            <a:r>
              <a:rPr lang="en-US" sz="1100" b="1" dirty="0">
                <a:solidFill>
                  <a:schemeClr val="tx1"/>
                </a:solidFill>
              </a:rPr>
              <a:t>SwiftUI + Observation</a:t>
            </a:r>
            <a:endParaRPr lang="en-US" sz="1100" dirty="0"/>
          </a:p>
        </p:txBody>
      </p:sp>
      <p:sp>
        <p:nvSpPr>
          <p:cNvPr id="11" name="tech-1"/>
          <p:cNvSpPr/>
          <p:nvPr/>
        </p:nvSpPr>
        <p:spPr>
          <a:xfrm>
            <a:off x="9646920" y="2331720"/>
            <a:ext cx="1993392" cy="420624"/>
          </a:xfrm>
          <a:prstGeom prst="roundRect">
            <a:avLst>
              <a:gd name="adj" fmla="val 43478"/>
            </a:avLst>
          </a:prstGeom>
          <a:solidFill>
            <a:schemeClr val="bg2"/>
          </a:solidFill>
          <a:ln w="9525">
            <a:solidFill>
              <a:srgbClr val="2A2A35"/>
            </a:solidFill>
          </a:ln>
        </p:spPr>
        <p:txBody>
          <a:bodyPr wrap="square" lIns="508" tIns="508" rIns="508" bIns="508" rtlCol="0" anchor="ctr"/>
          <a:lstStyle/>
          <a:p>
            <a:pPr algn="ctr" indent="0" marL="0">
              <a:buNone/>
            </a:pPr>
            <a:r>
              <a:rPr lang="en-US" sz="1100" b="1" dirty="0">
                <a:solidFill>
                  <a:schemeClr val="tx1"/>
                </a:solidFill>
              </a:rPr>
              <a:t>Swift default MainActor isolation</a:t>
            </a:r>
            <a:endParaRPr lang="en-US" sz="1100" dirty="0"/>
          </a:p>
        </p:txBody>
      </p:sp>
      <p:sp>
        <p:nvSpPr>
          <p:cNvPr id="12" name="tech-2"/>
          <p:cNvSpPr/>
          <p:nvPr/>
        </p:nvSpPr>
        <p:spPr>
          <a:xfrm>
            <a:off x="9646920" y="2880360"/>
            <a:ext cx="1993392" cy="420624"/>
          </a:xfrm>
          <a:prstGeom prst="roundRect">
            <a:avLst>
              <a:gd name="adj" fmla="val 43478"/>
            </a:avLst>
          </a:prstGeom>
          <a:solidFill>
            <a:schemeClr val="bg2"/>
          </a:solidFill>
          <a:ln w="9525">
            <a:solidFill>
              <a:srgbClr val="2A2A35"/>
            </a:solidFill>
          </a:ln>
        </p:spPr>
        <p:txBody>
          <a:bodyPr wrap="square" lIns="508" tIns="508" rIns="508" bIns="508" rtlCol="0" anchor="ctr"/>
          <a:lstStyle/>
          <a:p>
            <a:pPr algn="ctr" indent="0" marL="0">
              <a:buNone/>
            </a:pPr>
            <a:r>
              <a:rPr lang="en-US" sz="1100" b="1" dirty="0">
                <a:solidFill>
                  <a:schemeClr val="tx1"/>
                </a:solidFill>
              </a:rPr>
              <a:t>FoundationModels</a:t>
            </a:r>
            <a:endParaRPr lang="en-US" sz="1100" dirty="0"/>
          </a:p>
        </p:txBody>
      </p:sp>
      <p:sp>
        <p:nvSpPr>
          <p:cNvPr id="13" name="tech-3"/>
          <p:cNvSpPr/>
          <p:nvPr/>
        </p:nvSpPr>
        <p:spPr>
          <a:xfrm>
            <a:off x="9646920" y="3429000"/>
            <a:ext cx="1993392" cy="420624"/>
          </a:xfrm>
          <a:prstGeom prst="roundRect">
            <a:avLst>
              <a:gd name="adj" fmla="val 43478"/>
            </a:avLst>
          </a:prstGeom>
          <a:solidFill>
            <a:schemeClr val="bg2"/>
          </a:solidFill>
          <a:ln w="9525">
            <a:solidFill>
              <a:srgbClr val="2A2A35"/>
            </a:solidFill>
          </a:ln>
        </p:spPr>
        <p:txBody>
          <a:bodyPr wrap="square" lIns="508" tIns="508" rIns="508" bIns="508" rtlCol="0" anchor="ctr"/>
          <a:lstStyle/>
          <a:p>
            <a:pPr algn="ctr" indent="0" marL="0">
              <a:buNone/>
            </a:pPr>
            <a:r>
              <a:rPr lang="en-US" sz="1100" b="1" dirty="0">
                <a:solidFill>
                  <a:schemeClr val="tx1"/>
                </a:solidFill>
              </a:rPr>
              <a:t>DeviceHinge + ReservedRegion</a:t>
            </a:r>
            <a:endParaRPr lang="en-US" sz="1100" dirty="0"/>
          </a:p>
        </p:txBody>
      </p:sp>
      <p:sp>
        <p:nvSpPr>
          <p:cNvPr id="14" name="tech-4"/>
          <p:cNvSpPr/>
          <p:nvPr/>
        </p:nvSpPr>
        <p:spPr>
          <a:xfrm>
            <a:off x="9646920" y="3977640"/>
            <a:ext cx="1993392" cy="420624"/>
          </a:xfrm>
          <a:prstGeom prst="roundRect">
            <a:avLst>
              <a:gd name="adj" fmla="val 43478"/>
            </a:avLst>
          </a:prstGeom>
          <a:solidFill>
            <a:schemeClr val="bg2"/>
          </a:solidFill>
          <a:ln w="9525">
            <a:solidFill>
              <a:srgbClr val="2A2A35"/>
            </a:solidFill>
          </a:ln>
        </p:spPr>
        <p:txBody>
          <a:bodyPr wrap="square" lIns="508" tIns="508" rIns="508" bIns="508" rtlCol="0" anchor="ctr"/>
          <a:lstStyle/>
          <a:p>
            <a:pPr algn="ctr" indent="0" marL="0">
              <a:buNone/>
            </a:pPr>
            <a:r>
              <a:rPr lang="en-US" sz="1100" b="1" dirty="0">
                <a:solidFill>
                  <a:schemeClr val="tx1"/>
                </a:solidFill>
              </a:rPr>
              <a:t>GlassEffectContainer</a:t>
            </a:r>
            <a:endParaRPr lang="en-US" sz="1100" dirty="0"/>
          </a:p>
        </p:txBody>
      </p:sp>
      <p:sp>
        <p:nvSpPr>
          <p:cNvPr id="15" name="tech-5"/>
          <p:cNvSpPr/>
          <p:nvPr/>
        </p:nvSpPr>
        <p:spPr>
          <a:xfrm>
            <a:off x="9646920" y="4526280"/>
            <a:ext cx="1993392" cy="420624"/>
          </a:xfrm>
          <a:prstGeom prst="roundRect">
            <a:avLst>
              <a:gd name="adj" fmla="val 43478"/>
            </a:avLst>
          </a:prstGeom>
          <a:solidFill>
            <a:schemeClr val="bg2"/>
          </a:solidFill>
          <a:ln w="9525">
            <a:solidFill>
              <a:srgbClr val="2A2A35"/>
            </a:solidFill>
          </a:ln>
        </p:spPr>
        <p:txBody>
          <a:bodyPr wrap="square" lIns="508" tIns="508" rIns="508" bIns="508" rtlCol="0" anchor="ctr"/>
          <a:lstStyle/>
          <a:p>
            <a:pPr algn="ctr" indent="0" marL="0">
              <a:buNone/>
            </a:pPr>
            <a:r>
              <a:rPr lang="en-US" sz="1100" b="1" dirty="0">
                <a:solidFill>
                  <a:schemeClr val="tx1"/>
                </a:solidFill>
              </a:rPr>
              <a:t>MeshGradient · zoom transitions</a:t>
            </a:r>
            <a:endParaRPr lang="en-US" sz="1100" dirty="0"/>
          </a:p>
        </p:txBody>
      </p:sp>
      <p:sp>
        <p:nvSpPr>
          <p:cNvPr id="16" name="tech-6"/>
          <p:cNvSpPr/>
          <p:nvPr/>
        </p:nvSpPr>
        <p:spPr>
          <a:xfrm>
            <a:off x="9646920" y="5074920"/>
            <a:ext cx="1993392" cy="420624"/>
          </a:xfrm>
          <a:prstGeom prst="roundRect">
            <a:avLst>
              <a:gd name="adj" fmla="val 43478"/>
            </a:avLst>
          </a:prstGeom>
          <a:solidFill>
            <a:schemeClr val="bg2"/>
          </a:solidFill>
          <a:ln w="9525">
            <a:solidFill>
              <a:srgbClr val="2A2A35"/>
            </a:solidFill>
          </a:ln>
        </p:spPr>
        <p:txBody>
          <a:bodyPr wrap="square" lIns="508" tIns="508" rIns="508" bIns="508" rtlCol="0" anchor="ctr"/>
          <a:lstStyle/>
          <a:p>
            <a:pPr algn="ctr" indent="0" marL="0">
              <a:buNone/>
            </a:pPr>
            <a:r>
              <a:rPr lang="en-US" sz="1100" b="1" dirty="0">
                <a:solidFill>
                  <a:schemeClr val="tx1"/>
                </a:solidFill>
              </a:rPr>
              <a:t>No third-party code · 0 warnings</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nfold app icon">    </p:cNvPr>
          <p:cNvPicPr>
            <a:picLocks noChangeAspect="1"/>
          </p:cNvPicPr>
          <p:nvPr/>
        </p:nvPicPr>
        <p:blipFill>
          <a:blip r:embed="rId1"/>
          <a:stretch>
            <a:fillRect/>
          </a:stretch>
        </p:blipFill>
        <p:spPr>
          <a:xfrm>
            <a:off x="5550408" y="685800"/>
            <a:ext cx="1097280" cy="1097280"/>
          </a:xfrm>
          <a:prstGeom prst="rect">
            <a:avLst/>
          </a:prstGeom>
        </p:spPr>
      </p:pic>
      <p:sp>
        <p:nvSpPr>
          <p:cNvPr id="3" name="Text 0"/>
          <p:cNvSpPr/>
          <p:nvPr>
            <p:ph idx="100" type="title" hasCustomPrompt="1"/>
          </p:nvPr>
        </p:nvSpPr>
        <p:spPr>
          <a:xfrm>
            <a:off x="731520" y="1874520"/>
            <a:ext cx="10725912" cy="914400"/>
          </a:xfrm>
          <a:prstGeom prst="rect">
            <a:avLst/>
          </a:prstGeom>
          <a:noFill/>
          <a:ln/>
        </p:spPr>
        <p:txBody>
          <a:bodyPr wrap="square" lIns="0" tIns="0" rIns="0" bIns="0" rtlCol="0" anchor="ctr"/>
          <a:lstStyle/>
          <a:p>
            <a:pPr algn="ctr" indent="0" marL="0">
              <a:buNone/>
            </a:pPr>
            <a:r>
              <a:rPr lang="en-US" sz="6000" b="1" dirty="0">
                <a:solidFill>
                  <a:schemeClr val="tx1"/>
                </a:solidFill>
              </a:rPr>
              <a:t>Unfold</a:t>
            </a:r>
            <a:endParaRPr lang="en-US" sz="6000" dirty="0"/>
          </a:p>
        </p:txBody>
      </p:sp>
      <p:sp>
        <p:nvSpPr>
          <p:cNvPr id="4" name="Text 0"/>
          <p:cNvSpPr/>
          <p:nvPr>
            <p:ph idx="101" type="body" hasCustomPrompt="1"/>
          </p:nvPr>
        </p:nvSpPr>
        <p:spPr>
          <a:xfrm>
            <a:off x="731520" y="2788920"/>
            <a:ext cx="10725912" cy="502920"/>
          </a:xfrm>
          <a:prstGeom prst="rect">
            <a:avLst/>
          </a:prstGeom>
          <a:noFill/>
          <a:ln/>
        </p:spPr>
        <p:txBody>
          <a:bodyPr wrap="square" lIns="0" tIns="0" rIns="0" bIns="0" rtlCol="0" anchor="t"/>
          <a:lstStyle/>
          <a:p>
            <a:pPr algn="ctr" indent="0" marL="0">
              <a:buNone/>
            </a:pPr>
            <a:r>
              <a:rPr lang="en-US" sz="2400" dirty="0">
                <a:solidFill>
                  <a:schemeClr val="tx1"/>
                </a:solidFill>
              </a:rPr>
              <a:t>Learn Apple, one fold at a time.</a:t>
            </a:r>
            <a:endParaRPr lang="en-US" sz="2400" dirty="0"/>
          </a:p>
        </p:txBody>
      </p:sp>
      <p:sp>
        <p:nvSpPr>
          <p:cNvPr id="5" name="demo-1"/>
          <p:cNvSpPr/>
          <p:nvPr/>
        </p:nvSpPr>
        <p:spPr>
          <a:xfrm>
            <a:off x="1005840" y="3886200"/>
            <a:ext cx="2331720" cy="1600200"/>
          </a:xfrm>
          <a:prstGeom prst="roundRect">
            <a:avLst>
              <a:gd name="adj" fmla="val 10286"/>
            </a:avLst>
          </a:prstGeom>
          <a:solidFill>
            <a:schemeClr val="bg2"/>
          </a:solidFill>
          <a:ln w="9525">
            <a:solidFill>
              <a:srgbClr val="2A2A35"/>
            </a:solidFill>
            <a:prstDash val="solid"/>
          </a:ln>
        </p:spPr>
      </p:sp>
      <p:sp>
        <p:nvSpPr>
          <p:cNvPr id="6" name="Text 3"/>
          <p:cNvSpPr txBox="1"/>
          <p:nvPr/>
        </p:nvSpPr>
        <p:spPr>
          <a:xfrm>
            <a:off x="1234440" y="4023360"/>
            <a:ext cx="1920240" cy="1371600"/>
          </a:xfrm>
          <a:prstGeom prst="rect">
            <a:avLst/>
          </a:prstGeom>
          <a:noFill/>
          <a:ln/>
        </p:spPr>
        <p:txBody>
          <a:bodyPr wrap="square" lIns="0" tIns="0" rIns="0" bIns="0" rtlCol="0" anchor="t"/>
          <a:lstStyle/>
          <a:p>
            <a:pPr indent="0" marL="0">
              <a:spcAft>
                <a:spcPts val="200"/>
              </a:spcAft>
              <a:buNone/>
            </a:pPr>
            <a:r>
              <a:rPr lang="en-US" sz="2600" b="1" dirty="0">
                <a:solidFill>
                  <a:schemeClr val="accent3"/>
                </a:solidFill>
              </a:rPr>
              <a:t>1</a:t>
            </a:r>
            <a:endParaRPr lang="en-US" sz="2600" dirty="0"/>
          </a:p>
          <a:p>
            <a:pPr indent="0" marL="0">
              <a:spcAft>
                <a:spcPts val="200"/>
              </a:spcAft>
              <a:buNone/>
            </a:pPr>
            <a:r>
              <a:rPr lang="en-US" sz="1600" b="1" dirty="0">
                <a:solidFill>
                  <a:schemeClr val="tx1"/>
                </a:solidFill>
              </a:rPr>
              <a:t>Fold &amp; Flip</a:t>
            </a:r>
            <a:endParaRPr lang="en-US" sz="2600" dirty="0"/>
          </a:p>
          <a:p>
            <a:pPr indent="0" marL="0">
              <a:spcAft>
                <a:spcPts val="200"/>
              </a:spcAft>
              <a:buNone/>
            </a:pPr>
            <a:r>
              <a:rPr lang="en-US" sz="1200" dirty="0">
                <a:solidFill>
                  <a:schemeClr val="tx2"/>
                </a:solidFill>
              </a:rPr>
              <a:t>Bend the hinge; watch the card turn</a:t>
            </a:r>
            <a:endParaRPr lang="en-US" sz="2600" dirty="0"/>
          </a:p>
        </p:txBody>
      </p:sp>
      <p:sp>
        <p:nvSpPr>
          <p:cNvPr id="7" name="demo-2"/>
          <p:cNvSpPr/>
          <p:nvPr/>
        </p:nvSpPr>
        <p:spPr>
          <a:xfrm>
            <a:off x="3611880" y="3886200"/>
            <a:ext cx="2331720" cy="1600200"/>
          </a:xfrm>
          <a:prstGeom prst="roundRect">
            <a:avLst>
              <a:gd name="adj" fmla="val 10286"/>
            </a:avLst>
          </a:prstGeom>
          <a:solidFill>
            <a:schemeClr val="bg2"/>
          </a:solidFill>
          <a:ln w="9525">
            <a:solidFill>
              <a:srgbClr val="2A2A35"/>
            </a:solidFill>
            <a:prstDash val="solid"/>
          </a:ln>
        </p:spPr>
      </p:sp>
      <p:sp>
        <p:nvSpPr>
          <p:cNvPr id="8" name="Text 5"/>
          <p:cNvSpPr txBox="1"/>
          <p:nvPr/>
        </p:nvSpPr>
        <p:spPr>
          <a:xfrm>
            <a:off x="3840480" y="4023360"/>
            <a:ext cx="1920240" cy="1371600"/>
          </a:xfrm>
          <a:prstGeom prst="rect">
            <a:avLst/>
          </a:prstGeom>
          <a:noFill/>
          <a:ln/>
        </p:spPr>
        <p:txBody>
          <a:bodyPr wrap="square" lIns="0" tIns="0" rIns="0" bIns="0" rtlCol="0" anchor="t"/>
          <a:lstStyle/>
          <a:p>
            <a:pPr indent="0" marL="0">
              <a:spcAft>
                <a:spcPts val="200"/>
              </a:spcAft>
              <a:buNone/>
            </a:pPr>
            <a:r>
              <a:rPr lang="en-US" sz="2600" b="1" dirty="0">
                <a:solidFill>
                  <a:schemeClr val="accent2"/>
                </a:solidFill>
              </a:rPr>
              <a:t>2</a:t>
            </a:r>
            <a:endParaRPr lang="en-US" sz="2600" dirty="0"/>
          </a:p>
          <a:p>
            <a:pPr indent="0" marL="0">
              <a:spcAft>
                <a:spcPts val="200"/>
              </a:spcAft>
              <a:buNone/>
            </a:pPr>
            <a:r>
              <a:rPr lang="en-US" sz="1600" b="1" dirty="0">
                <a:solidFill>
                  <a:schemeClr val="tx1"/>
                </a:solidFill>
              </a:rPr>
              <a:t>Data Race</a:t>
            </a:r>
            <a:endParaRPr lang="en-US" sz="2600" dirty="0"/>
          </a:p>
          <a:p>
            <a:pPr indent="0" marL="0">
              <a:spcAft>
                <a:spcPts val="200"/>
              </a:spcAft>
              <a:buNone/>
            </a:pPr>
            <a:r>
              <a:rPr lang="en-US" sz="1200" dirty="0">
                <a:solidFill>
                  <a:schemeClr val="tx2"/>
                </a:solidFill>
              </a:rPr>
              <a:t>Send a class across: a data race</a:t>
            </a:r>
            <a:endParaRPr lang="en-US" sz="2600" dirty="0"/>
          </a:p>
        </p:txBody>
      </p:sp>
      <p:sp>
        <p:nvSpPr>
          <p:cNvPr id="9" name="demo-3"/>
          <p:cNvSpPr/>
          <p:nvPr/>
        </p:nvSpPr>
        <p:spPr>
          <a:xfrm>
            <a:off x="6217920" y="3886200"/>
            <a:ext cx="2331720" cy="1600200"/>
          </a:xfrm>
          <a:prstGeom prst="roundRect">
            <a:avLst>
              <a:gd name="adj" fmla="val 10286"/>
            </a:avLst>
          </a:prstGeom>
          <a:solidFill>
            <a:schemeClr val="bg2"/>
          </a:solidFill>
          <a:ln w="9525">
            <a:solidFill>
              <a:srgbClr val="2A2A35"/>
            </a:solidFill>
            <a:prstDash val="solid"/>
          </a:ln>
        </p:spPr>
      </p:sp>
      <p:sp>
        <p:nvSpPr>
          <p:cNvPr id="10" name="Text 7"/>
          <p:cNvSpPr txBox="1"/>
          <p:nvPr/>
        </p:nvSpPr>
        <p:spPr>
          <a:xfrm>
            <a:off x="6446520" y="4023360"/>
            <a:ext cx="1920240" cy="1371600"/>
          </a:xfrm>
          <a:prstGeom prst="rect">
            <a:avLst/>
          </a:prstGeom>
          <a:noFill/>
          <a:ln/>
        </p:spPr>
        <p:txBody>
          <a:bodyPr wrap="square" lIns="0" tIns="0" rIns="0" bIns="0" rtlCol="0" anchor="t"/>
          <a:lstStyle/>
          <a:p>
            <a:pPr indent="0" marL="0">
              <a:spcAft>
                <a:spcPts val="200"/>
              </a:spcAft>
              <a:buNone/>
            </a:pPr>
            <a:r>
              <a:rPr lang="en-US" sz="2600" b="1" dirty="0">
                <a:solidFill>
                  <a:schemeClr val="accent4"/>
                </a:solidFill>
              </a:rPr>
              <a:t>3</a:t>
            </a:r>
            <a:endParaRPr lang="en-US" sz="2600" dirty="0"/>
          </a:p>
          <a:p>
            <a:pPr indent="0" marL="0">
              <a:spcAft>
                <a:spcPts val="200"/>
              </a:spcAft>
              <a:buNone/>
            </a:pPr>
            <a:r>
              <a:rPr lang="en-US" sz="1600" b="1" dirty="0">
                <a:solidFill>
                  <a:schemeClr val="tx1"/>
                </a:solidFill>
              </a:rPr>
              <a:t>Coach</a:t>
            </a:r>
            <a:endParaRPr lang="en-US" sz="2600" dirty="0"/>
          </a:p>
          <a:p>
            <a:pPr indent="0" marL="0">
              <a:spcAft>
                <a:spcPts val="200"/>
              </a:spcAft>
              <a:buNone/>
            </a:pPr>
            <a:r>
              <a:rPr lang="en-US" sz="1200" dirty="0">
                <a:solidFill>
                  <a:schemeClr val="tx2"/>
                </a:solidFill>
              </a:rPr>
              <a:t>Ask how to read the hinge</a:t>
            </a:r>
            <a:endParaRPr lang="en-US" sz="2600" dirty="0"/>
          </a:p>
        </p:txBody>
      </p:sp>
      <p:sp>
        <p:nvSpPr>
          <p:cNvPr id="11" name="demo-4"/>
          <p:cNvSpPr/>
          <p:nvPr/>
        </p:nvSpPr>
        <p:spPr>
          <a:xfrm>
            <a:off x="8823960" y="3886200"/>
            <a:ext cx="2331720" cy="1600200"/>
          </a:xfrm>
          <a:prstGeom prst="roundRect">
            <a:avLst>
              <a:gd name="adj" fmla="val 10286"/>
            </a:avLst>
          </a:prstGeom>
          <a:solidFill>
            <a:schemeClr val="bg2"/>
          </a:solidFill>
          <a:ln w="9525">
            <a:solidFill>
              <a:srgbClr val="2A2A35"/>
            </a:solidFill>
            <a:prstDash val="solid"/>
          </a:ln>
        </p:spPr>
      </p:sp>
      <p:sp>
        <p:nvSpPr>
          <p:cNvPr id="12" name="Text 9"/>
          <p:cNvSpPr txBox="1"/>
          <p:nvPr/>
        </p:nvSpPr>
        <p:spPr>
          <a:xfrm>
            <a:off x="9052560" y="4023360"/>
            <a:ext cx="1920240" cy="1371600"/>
          </a:xfrm>
          <a:prstGeom prst="rect">
            <a:avLst/>
          </a:prstGeom>
          <a:noFill/>
          <a:ln/>
        </p:spPr>
        <p:txBody>
          <a:bodyPr wrap="square" lIns="0" tIns="0" rIns="0" bIns="0" rtlCol="0" anchor="t"/>
          <a:lstStyle/>
          <a:p>
            <a:pPr indent="0" marL="0">
              <a:spcAft>
                <a:spcPts val="200"/>
              </a:spcAft>
              <a:buNone/>
            </a:pPr>
            <a:r>
              <a:rPr lang="en-US" sz="2600" b="1" dirty="0">
                <a:solidFill>
                  <a:schemeClr val="accent5"/>
                </a:solidFill>
              </a:rPr>
              <a:t>4</a:t>
            </a:r>
            <a:endParaRPr lang="en-US" sz="2600" dirty="0"/>
          </a:p>
          <a:p>
            <a:pPr indent="0" marL="0">
              <a:spcAft>
                <a:spcPts val="200"/>
              </a:spcAft>
              <a:buNone/>
            </a:pPr>
            <a:r>
              <a:rPr lang="en-US" sz="1600" b="1" dirty="0">
                <a:solidFill>
                  <a:schemeClr val="tx1"/>
                </a:solidFill>
              </a:rPr>
              <a:t>Journey</a:t>
            </a:r>
            <a:endParaRPr lang="en-US" sz="2600" dirty="0"/>
          </a:p>
          <a:p>
            <a:pPr indent="0" marL="0">
              <a:spcAft>
                <a:spcPts val="200"/>
              </a:spcAft>
              <a:buNone/>
            </a:pPr>
            <a:r>
              <a:rPr lang="en-US" sz="1200" dirty="0">
                <a:solidFill>
                  <a:schemeClr val="tx2"/>
                </a:solidFill>
              </a:rPr>
              <a:t>See the mastery rings fill</a:t>
            </a:r>
            <a:endParaRPr lang="en-US" sz="2600" dirty="0"/>
          </a:p>
        </p:txBody>
      </p:sp>
      <p:sp>
        <p:nvSpPr>
          <p:cNvPr id="13" name="Text 10"/>
          <p:cNvSpPr txBox="1"/>
          <p:nvPr/>
        </p:nvSpPr>
        <p:spPr>
          <a:xfrm>
            <a:off x="731520" y="5760720"/>
            <a:ext cx="10725912" cy="365760"/>
          </a:xfrm>
          <a:prstGeom prst="rect">
            <a:avLst/>
          </a:prstGeom>
          <a:noFill/>
          <a:ln/>
        </p:spPr>
        <p:txBody>
          <a:bodyPr wrap="square" lIns="0" tIns="0" rIns="0" bIns="0" rtlCol="0" anchor="ctr"/>
          <a:lstStyle/>
          <a:p>
            <a:pPr algn="ctr" indent="0" marL="0">
              <a:buNone/>
            </a:pPr>
            <a:r>
              <a:rPr lang="en-US" sz="1400" dirty="0">
                <a:solidFill>
                  <a:schemeClr val="tx2"/>
                </a:solidFill>
              </a:rPr>
              <a:t>Live demo · about 3 minutes</a:t>
            </a:r>
            <a:endParaRPr lang="en-US" sz="1400" dirty="0"/>
          </a:p>
        </p:txBody>
      </p:sp>
    </p:spTree>
  </p:cSld>
  <p:clrMapOvr>
    <a:masterClrMapping/>
  </p:clrMapOvr>
</p:sld>
</file>

<file path=ppt/theme/theme1.xml><?xml version="1.0" encoding="utf-8"?>
<a:theme xmlns:a="http://schemas.openxmlformats.org/drawingml/2006/main" name="Unfold">
  <a:themeElements>
    <a:clrScheme name="Unfold">
      <a:dk1>
        <a:srgbClr val="F5F5F7"/>
      </a:dk1>
      <a:lt1>
        <a:srgbClr val="05050A"/>
      </a:lt1>
      <a:dk2>
        <a:srgbClr val="A1A1AA"/>
      </a:dk2>
      <a:lt2>
        <a:srgbClr val="15151D"/>
      </a:lt2>
      <a:accent1>
        <a:srgbClr val="3D8CFF"/>
      </a:accent1>
      <a:accent2>
        <a:srgbClr val="FF7333"/>
      </a:accent2>
      <a:accent3>
        <a:srgbClr val="40CCEB"/>
      </a:accent3>
      <a:accent4>
        <a:srgbClr val="AD73FF"/>
      </a:accent4>
      <a:accent5>
        <a:srgbClr val="33D66B"/>
      </a:accent5>
      <a:accent6>
        <a:srgbClr val="FFA81A"/>
      </a:accent6>
      <a:hlink>
        <a:srgbClr val="3D8CFF"/>
      </a:hlink>
      <a:folHlink>
        <a:srgbClr val="AD73FF"/>
      </a:folHlink>
    </a:clrScheme>
    <a:fontScheme name="Unfol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Unfold — pitch deck</dc:title>
  <dc:subject>PptxGenJS Presentation</dc:subject>
  <dc:creator>Sofiyan Shaikh</dc:creator>
  <cp:lastModifiedBy>Sofiyan Shaikh</cp:lastModifiedBy>
  <cp:revision>1</cp:revision>
  <dcterms:created xsi:type="dcterms:W3CDTF">2026-10-30T11:05:54Z</dcterms:created>
  <dcterms:modified xsi:type="dcterms:W3CDTF">2026-10-30T11:05:54Z</dcterms:modified>
</cp:coreProperties>
</file>